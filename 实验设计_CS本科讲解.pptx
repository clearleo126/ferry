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140" autoAdjust="0"/>
  </p:normalViewPr>
  <p:slideViewPr>
    <p:cSldViewPr snapToGrid="0" snapToObjects="1">
      <p:cViewPr varScale="1">
        <p:scale>
          <a:sx n="110" d="100"/>
          <a:sy n="110" d="100"/>
        </p:scale>
        <p:origin x="787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今天这堂课只讲一件事：大模型在持续 decode 的时候，完整 KV 历史放不下 GPU，我们就把热的留在卡上、冷的放在 host，然后认真设计 miss 怎么搬回来。对象是本科同学，不假设你们读过 serving 论文。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EF0C-B1A7-3A7E-BD83-B16A17CA5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FBC6A-773F-77DB-DDA6-AA0770DE1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6E77C-7C8C-A5A9-5A2C-B2D827E98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在无 </a:t>
            </a:r>
            <a:r>
              <a:rPr lang="en-US" altLang="zh-CN" dirty="0"/>
              <a:t>P2P </a:t>
            </a:r>
            <a:r>
              <a:rPr lang="zh-CN" altLang="en-US" dirty="0"/>
              <a:t>的商品多卡上做 </a:t>
            </a:r>
            <a:r>
              <a:rPr lang="en-US" altLang="zh-CN" dirty="0"/>
              <a:t>DP </a:t>
            </a:r>
            <a:r>
              <a:rPr lang="zh-CN" altLang="en-US" dirty="0"/>
              <a:t>式 </a:t>
            </a:r>
            <a:r>
              <a:rPr lang="en-US" altLang="zh-CN" dirty="0"/>
              <a:t>decode </a:t>
            </a:r>
            <a:r>
              <a:rPr lang="zh-CN" altLang="en-US" dirty="0"/>
              <a:t>重分配， 胜负手是 </a:t>
            </a:r>
            <a:r>
              <a:rPr lang="en-US" altLang="zh-CN" dirty="0"/>
              <a:t>host-staged </a:t>
            </a:r>
            <a:r>
              <a:rPr lang="zh-CN" altLang="en-US" dirty="0"/>
              <a:t>迁移管道的构造（</a:t>
            </a:r>
            <a:r>
              <a:rPr lang="en-US" altLang="zh-CN" dirty="0"/>
              <a:t>M1×M3 </a:t>
            </a:r>
            <a:r>
              <a:rPr lang="zh-CN" altLang="en-US" dirty="0"/>
              <a:t>交互），不是窃取策略 </a:t>
            </a:r>
            <a:r>
              <a:rPr lang="en-US" altLang="zh-CN" dirty="0"/>
              <a:t>——</a:t>
            </a:r>
            <a:r>
              <a:rPr lang="zh-CN" altLang="en-US" dirty="0"/>
              <a:t>策略只要粒度越过阈值，经典算法（</a:t>
            </a:r>
            <a:r>
              <a:rPr lang="en-US" altLang="zh-CN" dirty="0"/>
              <a:t>steal-half</a:t>
            </a:r>
            <a:r>
              <a:rPr lang="zh-CN" altLang="en-US" dirty="0"/>
              <a:t>）就已近似最优。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85055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先用仓库类比。Host 是大仓库，GPU 是工作台。每生成一个 token，历史就越来越长，整份 KV 放卡上会先撞显存墙。所以 GPU 每请求每层只留固定热工作集，缺的块叫 miss，必须从仓库按批搬回来。不要把六十四 token 的 page 当成唯一搬运粒度。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稀疏注意力的意思是：不是每次把全书翻一遍，每步每层只选大约一百二十八到五百一十二个 C4 块。步间大约百分之六十六会复用，百分之三十四要换入，十二层独立选，禁止跨层预取共享。QSA 只提供这种到达形态，不是论文主题。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平台钉死四张三零九零，没有点对点直连，跨卡一律绕 host，单流饱和大约十一到十二 GB 每秒。双流能到一点八二倍。在这条慢路上，批怎么切比拓扑路由更关键。直接 P2P、NVSHMEM、八卡二十五万六上下文，我们明确不做。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主张可以压成一句：完整 KV 驻 host，GPU 只留热工作集，miss 用流水化批传输回填，本地优先、批重分配和重叠构成多卡控制面。我们不跟 Shetty 抢单卡队列定理，也不去复现 QSA 的容量数字。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控制面只做三件事，而且必须分开记账。M1 是双流流水，报吞吐倍数。M2 是把批次放进饱和区，报段数和尾延迟。M3 是计算和拷贝用 event 叠起来。消融开关和这三本账一一对应。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第一处校订很重要。旧稿把 batched 两倍记在批处理头上，集群单流证明大于等于零点五 MB 时统一 sync 几乎不再涨，真正的一点八二倍来自两条流上相邻段重叠。去 M1 就是把流数打回一。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M2 不要再吹峰值带宽。小于零点五 MB 会被每次操作的开销主导，十六 KB 只有一点三九倍；自适应的独立贡献是段数从三十二降到二十一，以及小负载的尾延迟。端到端还要保证 target batches 等于八，否则流水窗会被合成一批吃掉。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M3 的意思是计算不要坐等拷贝。只靠 event 依赖，不赌跨 stream 的 kernel 并发。量级相当时，七点七六毫秒收到四点一四，一点八七倍。overlap ratio 必须用通信单独、计算单独、流水三者独立计时，缺一项就不算系统论文。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和谁比，三种执行器。A 必须等全部到达再 bulk 搬一次。B 允许动态，但逐段拷、逐段 sync。C 才是自适应批加双流加重叠。开环回放有一条死规则：批或段的最后任务没到就提交，会出现负延迟，那次 run 作废。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负载只留两条。A 是 QSA 风格 miss 流，单卡已经看到 C 比 B 一点四四倍、段数零点四四八、p99 从十一点三三降到三点八四毫秒。B 是合成流，payload 必须到 KB 级，一万六乘四字节是参数伪影，不是结论。GNN 和 MoE 不进最小版本。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矩阵故意很瘦。硬件一、二、四卡；开关就是流数、迁移策略和重叠；输入是到达、热缓存档、偏斜和并发。必做消融是去掉 M1、M2、M3 和本地优先。语义、反压、NVSHMEM、serving SLO 一律不扫。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把现在能讲的数摊开：单流十一到十二、双流一点八二、段数三十二到二十一、重叠一点八七、miss 流 C 比 B 一点四四、p99 降到三点八四。请口头强调：这些是机制证据，论文里的扩展效率必须等二卡四卡窗口，本地队列不再当主张。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还没做完的是五件验收。R1 修正负载 B，R2 跨卡接线，R3 二卡矩阵，R4 消融表，R5 正式测 overlap ratio。止损也很硬：相对 B 没有稳定收益就停扩；只有一卡变好，就回到重分配和批粒度，不要去调单卡队列。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下课三句。第一，问题是 miss 回填，不是再做一个 HiSparse。第二，慢 PCIe 上先流水、再选对批、再让计算叠上去，三本账分开。第三，数字要能解释吞吐、段数和 p99，扩展效率等窗口。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52400" cy="6858000"/>
            <a:chOff x="0" y="0"/>
            <a:chExt cx="1524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209800" y="342900"/>
            <a:ext cx="9372600" cy="1019175"/>
            <a:chOff x="2209800" y="342900"/>
            <a:chExt cx="9372600" cy="1019175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4200" y="342900"/>
              <a:ext cx="838200" cy="781050"/>
            </a:xfrm>
            <a:prstGeom prst="rect">
              <a:avLst/>
            </a:prstGeom>
          </p:spPr>
        </p:pic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9800" y="457200"/>
              <a:ext cx="2286000" cy="904875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2200656" y="1710690"/>
            <a:ext cx="3274162" cy="352044"/>
            <a:chOff x="2200656" y="1710690"/>
            <a:chExt cx="3274162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2200656" y="1710690"/>
              <a:ext cx="3274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spc="300" dirty="0">
                  <a:solidFill>
                    <a:srgbClr val="0070C0"/>
                  </a:solidFill>
                  <a:latin typeface="Arial"/>
                  <a:ea typeface="SimHei"/>
                  <a:cs typeface="Arial"/>
                </a:rPr>
                <a:t>实验设计讲解 · CS 本科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90750" y="2335530"/>
            <a:ext cx="6187869" cy="2305050"/>
            <a:chOff x="2190750" y="2335530"/>
            <a:chExt cx="6187869" cy="2305050"/>
          </a:xfrm>
        </p:grpSpPr>
        <p:sp>
          <p:nvSpPr>
            <p:cNvPr id="9" name="TextBox 9"/>
            <p:cNvSpPr txBox="1"/>
            <p:nvPr/>
          </p:nvSpPr>
          <p:spPr>
            <a:xfrm>
              <a:off x="2190750" y="2335530"/>
              <a:ext cx="560743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热 KV 放 GPU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90750" y="3364230"/>
              <a:ext cx="6187869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冷历史放 Host</a:t>
              </a:r>
            </a:p>
          </p:txBody>
        </p:sp>
      </p:grpSp>
      <p:sp>
        <p:nvSpPr>
          <p:cNvPr id="12" name="Rectangle 12"/>
          <p:cNvSpPr/>
          <p:nvPr/>
        </p:nvSpPr>
        <p:spPr>
          <a:xfrm>
            <a:off x="2209800" y="4457700"/>
            <a:ext cx="11430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2196084" y="4852035"/>
            <a:ext cx="8124586" cy="846386"/>
            <a:chOff x="2196084" y="4852035"/>
            <a:chExt cx="8124586" cy="846386"/>
          </a:xfrm>
        </p:grpSpPr>
        <p:sp>
          <p:nvSpPr>
            <p:cNvPr id="13" name="TextBox 13"/>
            <p:cNvSpPr txBox="1"/>
            <p:nvPr/>
          </p:nvSpPr>
          <p:spPr>
            <a:xfrm>
              <a:off x="2196084" y="4852035"/>
              <a:ext cx="8124586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zh-CN" sz="2800" dirty="0"/>
                <a:t>卡间 miss-serving 失衡 + 批窃取重分配</a:t>
              </a:r>
              <a:r>
                <a:rPr lang="zh-CN" sz="27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 host-staged</a:t>
              </a:r>
              <a:endParaRPr lang="en-US" altLang="zh-CN" sz="2700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endParaRPr>
            </a:p>
            <a:p>
              <a:r>
                <a:rPr lang="zh-CN" sz="27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 实验设计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DA8AB-91F6-8020-B221-4847B183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167B2B95-C218-5961-74CA-C659BC7D202D}"/>
              </a:ext>
            </a:extLst>
          </p:cNvPr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DAF74E46-8417-0F40-6A63-A17D375768AC}"/>
                </a:ext>
              </a:extLst>
            </p:cNvPr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008CEFE1-E42C-C56E-285C-A811C99570A2}"/>
                </a:ext>
              </a:extLst>
            </p:cNvPr>
            <p:cNvSpPr txBox="1"/>
            <p:nvPr/>
          </p:nvSpPr>
          <p:spPr>
            <a:xfrm>
              <a:off x="336042" y="692468"/>
              <a:ext cx="4616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4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SimHei"/>
                  <a:cs typeface="Arial"/>
                </a:rPr>
                <a:t>引子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BF295F-C30E-C9BE-3C1D-F53FAA5FF65B}"/>
                </a:ext>
              </a:extLst>
            </p:cNvPr>
            <p:cNvSpPr txBox="1"/>
            <p:nvPr/>
          </p:nvSpPr>
          <p:spPr>
            <a:xfrm>
              <a:off x="332232" y="1106805"/>
              <a:ext cx="1028735" cy="22621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Shetty ：单 GPU 内的细粒度动态工作分配</a:t>
              </a:r>
            </a:p>
            <a:p>
              <a:endParaRPr lang="zh-CN" altLang="en-US" sz="2100" dirty="0">
                <a:solidFill>
                  <a:srgbClr val="FFFFFF"/>
                </a:solidFill>
                <a:latin typeface="Arial"/>
                <a:ea typeface="SimHei"/>
                <a:cs typeface="Arial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E89E8F-9D71-359C-956C-71DBEA239BF5}"/>
                </a:ext>
              </a:extLst>
            </p:cNvPr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nsolas"/>
                  <a:ea typeface="Consolas"/>
                  <a:cs typeface="Consolas"/>
                </a:rPr>
                <a:t>02 / 16</a:t>
              </a: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A38B32E7-5C73-D141-225E-8F26CCD4730C}"/>
              </a:ext>
            </a:extLst>
          </p:cNvPr>
          <p:cNvSpPr txBox="1"/>
          <p:nvPr/>
        </p:nvSpPr>
        <p:spPr>
          <a:xfrm>
            <a:off x="1851567" y="209871"/>
            <a:ext cx="8187113" cy="18774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zh-CN" sz="4000" b="1" dirty="0"/>
              <a:t>Scalable Concurrent Queues for GPU</a:t>
            </a:r>
          </a:p>
          <a:p>
            <a:pPr algn="ctr"/>
            <a:endParaRPr lang="en-US" altLang="zh-CN" sz="4000" b="1" dirty="0">
              <a:latin typeface="Times New Roman" panose="02020603050405020304" pitchFamily="18" charset="0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200" b="1" i="0" u="none" strike="noStrike" kern="1200" cap="none" spc="0" normalizeH="0" baseline="0" noProof="0" dirty="0">
              <a:ln>
                <a:noFill/>
              </a:ln>
              <a:solidFill>
                <a:srgbClr val="0A4A86"/>
              </a:solidFill>
              <a:effectLst/>
              <a:uLnTx/>
              <a:uFillTx/>
              <a:latin typeface="Arial"/>
              <a:ea typeface="SimHei"/>
              <a:cs typeface="Arial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BB76887A-33C3-46A6-80F8-055C84CF33B8}"/>
              </a:ext>
            </a:extLst>
          </p:cNvPr>
          <p:cNvSpPr/>
          <p:nvPr/>
        </p:nvSpPr>
        <p:spPr>
          <a:xfrm>
            <a:off x="2209800" y="14097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0">
            <a:solidFill>
              <a:srgbClr val="0070C0"/>
            </a:solidFill>
          </a:ln>
        </p:spPr>
      </p:sp>
      <p:sp>
        <p:nvSpPr>
          <p:cNvPr id="43" name="文本占位符 5">
            <a:extLst>
              <a:ext uri="{FF2B5EF4-FFF2-40B4-BE49-F238E27FC236}">
                <a16:creationId xmlns:a16="http://schemas.microsoft.com/office/drawing/2014/main" id="{1618989E-681F-330C-1D3D-A8FEDE981725}"/>
              </a:ext>
            </a:extLst>
          </p:cNvPr>
          <p:cNvSpPr txBox="1"/>
          <p:nvPr/>
        </p:nvSpPr>
        <p:spPr>
          <a:xfrm>
            <a:off x="6484048" y="985902"/>
            <a:ext cx="2634615" cy="3416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发布日期：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2026.6.1</a:t>
            </a:r>
          </a:p>
        </p:txBody>
      </p:sp>
      <p:sp>
        <p:nvSpPr>
          <p:cNvPr id="45" name="文本占位符 5">
            <a:extLst>
              <a:ext uri="{FF2B5EF4-FFF2-40B4-BE49-F238E27FC236}">
                <a16:creationId xmlns:a16="http://schemas.microsoft.com/office/drawing/2014/main" id="{4DE88958-50F6-89B7-802A-7EC36F1CF6DA}"/>
              </a:ext>
            </a:extLst>
          </p:cNvPr>
          <p:cNvSpPr txBox="1"/>
          <p:nvPr/>
        </p:nvSpPr>
        <p:spPr>
          <a:xfrm>
            <a:off x="4322237" y="1032193"/>
            <a:ext cx="4224655" cy="3416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发表情况：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arXiv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593E1DF-309C-4351-ABF6-FD0EA39170BE}"/>
              </a:ext>
            </a:extLst>
          </p:cNvPr>
          <p:cNvSpPr txBox="1"/>
          <p:nvPr/>
        </p:nvSpPr>
        <p:spPr>
          <a:xfrm>
            <a:off x="3924300" y="178869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在超算里队列成为任务分配的瓶颈，于是Shetty针对单一GPU使用wave-batch——即lane 用一条原子指令替整个 warp 划走一段连续任务，再广播让各 lane 工作，实现有界并发队列。</a:t>
            </a:r>
            <a:br>
              <a:rPr lang="zh-CN" altLang="zh-CN" dirty="0"/>
            </a:br>
            <a:r>
              <a:rPr lang="zh-CN" altLang="zh-CN" dirty="0"/>
              <a:t>我借用的是它的有界环、wave-batched预约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FE93A08-71E9-B882-DC33-79AB3283486D}"/>
              </a:ext>
            </a:extLst>
          </p:cNvPr>
          <p:cNvSpPr txBox="1"/>
          <p:nvPr/>
        </p:nvSpPr>
        <p:spPr>
          <a:xfrm>
            <a:off x="3924300" y="451055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HiSparse 解决的问题是： 稀疏注意力让“算”变便宜了，但 KV cache 还是把显存撑爆——它把全量 KV 搬到 host 内存，GPU 上只留一个小热工作集，miss 了再从 host 拉回来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83C6750-57DE-E956-49B5-0F9A5B3D2BB7}"/>
              </a:ext>
            </a:extLst>
          </p:cNvPr>
          <p:cNvSpPr txBox="1"/>
          <p:nvPr/>
        </p:nvSpPr>
        <p:spPr>
          <a:xfrm>
            <a:off x="326490" y="2906941"/>
            <a:ext cx="1099619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47625" indent="0" algn="l" fontAlgn="base">
              <a:buNone/>
            </a:pPr>
            <a:br>
              <a:rPr lang="zh-CN" altLang="zh-CN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zh-CN" altLang="zh-CN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rtl="0" fontAlgn="base">
              <a:lnSpc>
                <a:spcPct val="100000"/>
              </a:lnSpc>
              <a:buNone/>
            </a:pPr>
            <a:r>
              <a:rPr lang="zh-CN" altLang="zh-CN" sz="2100" dirty="0">
                <a:solidFill>
                  <a:srgbClr val="FFFFFF"/>
                </a:solidFill>
                <a:latin typeface="Arial"/>
                <a:ea typeface="SimHei"/>
                <a:cs typeface="Arial"/>
              </a:rPr>
              <a:t>HiSparse：基于分层键值缓存管理的稀疏注意力解码扩展</a:t>
            </a:r>
          </a:p>
        </p:txBody>
      </p:sp>
    </p:spTree>
    <p:extLst>
      <p:ext uri="{BB962C8B-B14F-4D97-AF65-F5344CB8AC3E}">
        <p14:creationId xmlns:p14="http://schemas.microsoft.com/office/powerpoint/2010/main" val="368664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第一章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8467340" cy="1082802"/>
            <a:chOff x="2190750" y="156210"/>
            <a:chExt cx="8467340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84673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Decode 时，历史会把 GPU 撑满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8266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每生成一个 token，都要带着越来越长的 KV 历史。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09800" y="1219200"/>
            <a:ext cx="9525000" cy="2667000"/>
            <a:chOff x="2209800" y="1219200"/>
            <a:chExt cx="9525000" cy="26670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rcRect t="25111" b="25111"/>
            <a:stretch>
              <a:fillRect/>
            </a:stretch>
          </p:blipFill>
          <p:spPr>
            <a:xfrm>
              <a:off x="2209800" y="1219200"/>
              <a:ext cx="9525000" cy="26670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2209800" y="3314700"/>
              <a:ext cx="9525000" cy="5715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252662" y="4103370"/>
            <a:ext cx="7925524" cy="469392"/>
            <a:chOff x="2252662" y="4103370"/>
            <a:chExt cx="7925524" cy="469392"/>
          </a:xfrm>
        </p:grpSpPr>
        <p:grpSp>
          <p:nvGrpSpPr>
            <p:cNvPr id="16" name="Group 16"/>
            <p:cNvGrpSpPr/>
            <p:nvPr/>
          </p:nvGrpSpPr>
          <p:grpSpPr>
            <a:xfrm>
              <a:off x="2252662" y="4171950"/>
              <a:ext cx="257175" cy="242888"/>
              <a:chOff x="2252662" y="4171950"/>
              <a:chExt cx="257175" cy="24288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252662" y="4171950"/>
                <a:ext cx="25717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42888">
                    <a:moveTo>
                      <a:pt x="0" y="242888"/>
                    </a:moveTo>
                    <a:lnTo>
                      <a:pt x="0" y="57150"/>
                    </a:lnTo>
                    <a:lnTo>
                      <a:pt x="128588" y="0"/>
                    </a:lnTo>
                    <a:lnTo>
                      <a:pt x="257175" y="57150"/>
                    </a:lnTo>
                    <a:lnTo>
                      <a:pt x="257175" y="242888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309812" y="4300538"/>
                <a:ext cx="142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4300">
                    <a:moveTo>
                      <a:pt x="85725" y="0"/>
                    </a:moveTo>
                    <a:lnTo>
                      <a:pt x="142875" y="0"/>
                    </a:lnTo>
                    <a:lnTo>
                      <a:pt x="142875" y="114300"/>
                    </a:lnTo>
                    <a:lnTo>
                      <a:pt x="0" y="114300"/>
                    </a:lnTo>
                    <a:lnTo>
                      <a:pt x="0" y="28575"/>
                    </a:lnTo>
                    <a:lnTo>
                      <a:pt x="85725" y="28575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338388" y="4271962"/>
                <a:ext cx="571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75">
                    <a:moveTo>
                      <a:pt x="57150" y="142875"/>
                    </a:moveTo>
                    <a:lnTo>
                      <a:pt x="57150" y="14288"/>
                    </a:lnTo>
                    <a:cubicBezTo>
                      <a:pt x="57150" y="6397"/>
                      <a:pt x="50753" y="0"/>
                      <a:pt x="42862" y="0"/>
                    </a:cubicBezTo>
                    <a:lnTo>
                      <a:pt x="14288" y="0"/>
                    </a:lnTo>
                    <a:cubicBezTo>
                      <a:pt x="6397" y="0"/>
                      <a:pt x="0" y="6397"/>
                      <a:pt x="0" y="14288"/>
                    </a:cubicBez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654808" y="4103370"/>
              <a:ext cx="75233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Host 是大仓库：完整 KV 历史驻 pinned 内存。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252662" y="4674870"/>
            <a:ext cx="11432248" cy="469392"/>
            <a:chOff x="2252662" y="4674870"/>
            <a:chExt cx="11432248" cy="469392"/>
          </a:xfrm>
        </p:grpSpPr>
        <p:grpSp>
          <p:nvGrpSpPr>
            <p:cNvPr id="23" name="Group 23"/>
            <p:cNvGrpSpPr/>
            <p:nvPr/>
          </p:nvGrpSpPr>
          <p:grpSpPr>
            <a:xfrm>
              <a:off x="2252662" y="4743450"/>
              <a:ext cx="257175" cy="238125"/>
              <a:chOff x="2252662" y="4743450"/>
              <a:chExt cx="257175" cy="2381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252662" y="4743450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242888" y="0"/>
                    </a:lnTo>
                    <a:cubicBezTo>
                      <a:pt x="250778" y="0"/>
                      <a:pt x="257175" y="6397"/>
                      <a:pt x="257175" y="14288"/>
                    </a:cubicBezTo>
                    <a:lnTo>
                      <a:pt x="257175" y="157162"/>
                    </a:lnTo>
                    <a:cubicBezTo>
                      <a:pt x="257175" y="165053"/>
                      <a:pt x="250778" y="171450"/>
                      <a:pt x="24288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309812" y="49720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338388" y="49149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424112" y="49149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654808" y="4674870"/>
              <a:ext cx="110301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GPU 是工作台：每请求每层只留热工作集（1× / 2× / 4×）。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66950" y="5246370"/>
            <a:ext cx="9747656" cy="469392"/>
            <a:chOff x="2266950" y="5246370"/>
            <a:chExt cx="9747656" cy="469392"/>
          </a:xfrm>
        </p:grpSpPr>
        <p:grpSp>
          <p:nvGrpSpPr>
            <p:cNvPr id="28" name="Group 28"/>
            <p:cNvGrpSpPr/>
            <p:nvPr/>
          </p:nvGrpSpPr>
          <p:grpSpPr>
            <a:xfrm>
              <a:off x="2266950" y="5314950"/>
              <a:ext cx="228600" cy="228600"/>
              <a:chOff x="2266950" y="5314950"/>
              <a:chExt cx="228600" cy="228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266950" y="5314950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228600" y="85725"/>
                    </a:moveTo>
                    <a:lnTo>
                      <a:pt x="0" y="85725"/>
                    </a:lnTo>
                    <a:lnTo>
                      <a:pt x="78581" y="0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266950" y="5457825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0"/>
                    </a:moveTo>
                    <a:lnTo>
                      <a:pt x="228600" y="0"/>
                    </a:lnTo>
                    <a:lnTo>
                      <a:pt x="150019" y="85725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654808" y="5246370"/>
              <a:ext cx="93597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Miss：工作台上没有的块，经 PCIe 从仓库按批搬回来（前提：DP / 池化 KV）。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第一章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9251442" cy="1082802"/>
            <a:chOff x="2190750" y="156210"/>
            <a:chExt cx="9251442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不是每次都把全书翻一遍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9244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稀疏注意力每步只选一部分历史块，过 PCIe 的是 miss。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209800" y="1512570"/>
            <a:ext cx="8274919" cy="3445764"/>
            <a:chOff x="2209800" y="1512570"/>
            <a:chExt cx="8274919" cy="3445764"/>
          </a:xfrm>
        </p:grpSpPr>
        <p:grpSp>
          <p:nvGrpSpPr>
            <p:cNvPr id="12" name="Group 12"/>
            <p:cNvGrpSpPr/>
            <p:nvPr/>
          </p:nvGrpSpPr>
          <p:grpSpPr>
            <a:xfrm>
              <a:off x="2260600" y="1574800"/>
              <a:ext cx="203200" cy="203200"/>
              <a:chOff x="2260600" y="1574800"/>
              <a:chExt cx="203200" cy="2032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311400" y="1574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260600" y="16256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616708" y="1512570"/>
              <a:ext cx="68064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每 step 每层选出约 128–512 个 C4 block。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247900" y="2247900"/>
              <a:ext cx="228600" cy="152400"/>
              <a:chOff x="2247900" y="2247900"/>
              <a:chExt cx="228600" cy="152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298700" y="2247900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0" y="50800"/>
                    </a:moveTo>
                    <a:lnTo>
                      <a:pt x="177800" y="508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247900" y="2349500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177800" y="0"/>
                    </a:moveTo>
                    <a:lnTo>
                      <a:pt x="0" y="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616708" y="2160270"/>
              <a:ext cx="51620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步间 reuse ≈ 66%，换入 ≈ 34%。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2260600" y="2857500"/>
              <a:ext cx="203199" cy="228600"/>
              <a:chOff x="2260600" y="2857500"/>
              <a:chExt cx="203199" cy="228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260600" y="285750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260600" y="28956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60600" y="29718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616708" y="2807970"/>
              <a:ext cx="56229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12 层独立选择，禁止跨层预取共享。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2247900" y="3505200"/>
              <a:ext cx="228599" cy="228599"/>
              <a:chOff x="2247900" y="3505200"/>
              <a:chExt cx="228599" cy="2285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273300" y="35306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324100" y="35814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247900" y="3594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247900" y="36449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336800" y="35052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387600" y="35052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451099" y="3594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2451099" y="36449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387600" y="370839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336800" y="370839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70C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616708" y="3455670"/>
              <a:ext cx="78680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逻辑 KV 在 host pinned slab；GPU 只留热缓存。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209800" y="4095750"/>
              <a:ext cx="4953000" cy="8382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91156" y="4282440"/>
              <a:ext cx="36098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QSA / HiSparse 只提供到达形态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91156" y="4606290"/>
              <a:ext cx="2578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不是这篇论文的主题。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33183" y="3876446"/>
            <a:ext cx="4314444" cy="2843784"/>
            <a:chOff x="7420356" y="1409700"/>
            <a:chExt cx="4314444" cy="2843784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rcRect t="49" b="49"/>
            <a:stretch>
              <a:fillRect/>
            </a:stretch>
          </p:blipFill>
          <p:spPr>
            <a:xfrm>
              <a:off x="7429500" y="1409700"/>
              <a:ext cx="4305300" cy="2419350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7420356" y="3901440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书签页，不是整本重读。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第一章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05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8729015" cy="1082802"/>
            <a:chOff x="2190750" y="156210"/>
            <a:chExt cx="8729015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773301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两平台 4×3090 无 P2P：PCIe4 11.0 / PCIe3 5.95 GB/s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87221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卡和卡不能直接握手，跨卡和 H2D 都走 host-staged。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09800" y="1219200"/>
            <a:ext cx="5905500" cy="3314700"/>
            <a:chOff x="2209800" y="1219200"/>
            <a:chExt cx="5905500" cy="33147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rcRect t="108" b="108"/>
            <a:stretch>
              <a:fillRect/>
            </a:stretch>
          </p:blipFill>
          <p:spPr>
            <a:xfrm>
              <a:off x="2209800" y="1219200"/>
              <a:ext cx="5905500" cy="33147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2209800" y="1219200"/>
              <a:ext cx="2095500" cy="331470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91156" y="1520190"/>
              <a:ext cx="558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A4A86"/>
                  </a:solidFill>
                  <a:latin typeface="Arial"/>
                  <a:ea typeface="Arial"/>
                  <a:cs typeface="Arial"/>
                </a:rPr>
                <a:t>Host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91156" y="19011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必经驿站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91156" y="24726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02014"/>
                  </a:solidFill>
                  <a:latin typeface="Arial"/>
                  <a:ea typeface="SimHei"/>
                  <a:cs typeface="Arial"/>
                </a:rPr>
                <a:t>无直连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91156" y="2853690"/>
              <a:ext cx="18681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GPU 互不接线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05800" y="1219200"/>
            <a:ext cx="3774948" cy="3358134"/>
            <a:chOff x="8305800" y="1219200"/>
            <a:chExt cx="3774948" cy="3358134"/>
          </a:xfrm>
        </p:grpSpPr>
        <p:sp>
          <p:nvSpPr>
            <p:cNvPr id="17" name="Rectangle 17"/>
            <p:cNvSpPr/>
            <p:nvPr/>
          </p:nvSpPr>
          <p:spPr>
            <a:xfrm>
              <a:off x="8305800" y="1219200"/>
              <a:ext cx="3429000" cy="7620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4108" y="1303020"/>
              <a:ext cx="17846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11.0–11.1 GB/s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87156" y="1672590"/>
              <a:ext cx="23655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单流饱和 · g*≈0.7–1MB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05800" y="2095500"/>
              <a:ext cx="3429000" cy="7620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84108" y="2179320"/>
              <a:ext cx="9128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1.85×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87156" y="2548890"/>
              <a:ext cx="2898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通道层 19.15 vs 10.36 GB/s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05800" y="2971800"/>
              <a:ext cx="3429000" cy="7620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84108" y="30556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带宽差 1.85×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7156" y="342519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机制倍数不变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05800" y="3848100"/>
              <a:ext cx="342900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0201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87156" y="39585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02014"/>
                  </a:solidFill>
                  <a:latin typeface="Arial"/>
                  <a:ea typeface="SimHei"/>
                  <a:cs typeface="Arial"/>
                </a:rPr>
                <a:t>明确不做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87156" y="4225290"/>
              <a:ext cx="3593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A02014"/>
                  </a:solidFill>
                  <a:latin typeface="Times New Roman"/>
                  <a:ea typeface="Times New Roman"/>
                  <a:cs typeface="Times New Roman"/>
                </a:rPr>
                <a:t>P2P · NVSHMEM · 8×256K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52400" cy="6858000"/>
            <a:chOff x="0" y="0"/>
            <a:chExt cx="1524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2856" y="643890"/>
            <a:ext cx="1791233" cy="352044"/>
            <a:chOff x="752856" y="643890"/>
            <a:chExt cx="1791233" cy="352044"/>
          </a:xfrm>
        </p:grpSpPr>
        <p:sp>
          <p:nvSpPr>
            <p:cNvPr id="4" name="TextBox 4"/>
            <p:cNvSpPr txBox="1"/>
            <p:nvPr/>
          </p:nvSpPr>
          <p:spPr>
            <a:xfrm>
              <a:off x="752856" y="643890"/>
              <a:ext cx="1791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spc="300" dirty="0">
                  <a:solidFill>
                    <a:srgbClr val="0070C0"/>
                  </a:solidFill>
                  <a:latin typeface="Arial"/>
                  <a:ea typeface="SimHei"/>
                  <a:cs typeface="Arial"/>
                </a:rPr>
                <a:t>第二章 · 主张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2950" y="2023110"/>
            <a:ext cx="7302551" cy="2835402"/>
            <a:chOff x="742950" y="2023110"/>
            <a:chExt cx="7302551" cy="2835402"/>
          </a:xfrm>
        </p:grpSpPr>
        <p:sp>
          <p:nvSpPr>
            <p:cNvPr id="6" name="TextBox 6"/>
            <p:cNvSpPr txBox="1"/>
            <p:nvPr/>
          </p:nvSpPr>
          <p:spPr>
            <a:xfrm>
              <a:off x="742950" y="2023110"/>
              <a:ext cx="443352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完整 KV 驻 Host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2747010"/>
              <a:ext cx="502496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GPU 只留热工作集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3543300"/>
              <a:ext cx="11430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9808" y="3931920"/>
              <a:ext cx="45022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Miss 以流水化批传输回填。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808" y="4389120"/>
              <a:ext cx="72956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本地优先 + 批重分配 + 重叠 = 多卡控制面（DP / 池化 KV，非 TP·PP）。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2856" y="5520690"/>
            <a:ext cx="8801100" cy="733044"/>
            <a:chOff x="752856" y="5520690"/>
            <a:chExt cx="8801100" cy="733044"/>
          </a:xfrm>
        </p:grpSpPr>
        <p:sp>
          <p:nvSpPr>
            <p:cNvPr id="12" name="TextBox 12"/>
            <p:cNvSpPr txBox="1"/>
            <p:nvPr/>
          </p:nvSpPr>
          <p:spPr>
            <a:xfrm>
              <a:off x="752856" y="5520690"/>
              <a:ext cx="8801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贡献不在单卡更快的无锁队列，也不在复现 QSA 的 256K 容量。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5901690"/>
              <a:ext cx="57918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要看的是吞吐、通信放大、突发/偏斜下的尾延迟。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692232" y="64617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06 / 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第二章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07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8224266" cy="1082802"/>
            <a:chOff x="2190750" y="156210"/>
            <a:chExt cx="8224266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47874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控制面只做三件事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三个开关一一对应；但 M1 与 M3 是交互项，不能各记一笔。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09800" y="1409700"/>
            <a:ext cx="3075432" cy="4762500"/>
            <a:chOff x="2209800" y="1409700"/>
            <a:chExt cx="3075432" cy="4762500"/>
          </a:xfrm>
        </p:grpSpPr>
        <p:sp>
          <p:nvSpPr>
            <p:cNvPr id="10" name="Rectangle 10"/>
            <p:cNvSpPr/>
            <p:nvPr/>
          </p:nvSpPr>
          <p:spPr>
            <a:xfrm>
              <a:off x="2209800" y="1409700"/>
              <a:ext cx="2971800" cy="476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09800" y="1409700"/>
              <a:ext cx="2971800" cy="76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486025" y="1778000"/>
              <a:ext cx="285751" cy="254000"/>
              <a:chOff x="2486025" y="1778000"/>
              <a:chExt cx="285751" cy="25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486025" y="1905000"/>
                <a:ext cx="285751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79375">
                    <a:moveTo>
                      <a:pt x="285751" y="79375"/>
                    </a:moveTo>
                    <a:lnTo>
                      <a:pt x="158750" y="79375"/>
                    </a:lnTo>
                    <a:lnTo>
                      <a:pt x="103188" y="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589292" y="1825625"/>
                <a:ext cx="182483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82483" h="79375">
                    <a:moveTo>
                      <a:pt x="182483" y="0"/>
                    </a:moveTo>
                    <a:lnTo>
                      <a:pt x="55483" y="0"/>
                    </a:lnTo>
                    <a:lnTo>
                      <a:pt x="0" y="79375"/>
                    </a:ln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724151" y="177800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95250"/>
                    </a:moveTo>
                    <a:lnTo>
                      <a:pt x="47625" y="47625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724151" y="19367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95250"/>
                    </a:moveTo>
                    <a:lnTo>
                      <a:pt x="47625" y="47625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429256" y="2167890"/>
              <a:ext cx="3511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M1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24684" y="2489835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流水化批传输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6208" y="3169920"/>
              <a:ext cx="285902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独立 H2D 分向重叠。开关 m1_p1（不是 n_in_streams）。</a:t>
              </a:r>
            </a:p>
            <a:p>
              <a:pPr algn="l">
                <a:lnSpc>
                  <a:spcPts val="3300"/>
                </a:lnSpc>
                <a:spcBef>
                  <a:spcPts val="900"/>
                </a:spcBef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单独 1.04×，与 M3 合 1.92×。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72100" y="1409700"/>
            <a:ext cx="2971800" cy="4762500"/>
            <a:chOff x="5372100" y="1409700"/>
            <a:chExt cx="2971800" cy="4762500"/>
          </a:xfrm>
        </p:grpSpPr>
        <p:sp>
          <p:nvSpPr>
            <p:cNvPr id="21" name="Rectangle 21"/>
            <p:cNvSpPr/>
            <p:nvPr/>
          </p:nvSpPr>
          <p:spPr>
            <a:xfrm>
              <a:off x="5372100" y="1409700"/>
              <a:ext cx="2971800" cy="476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72100" y="1409700"/>
              <a:ext cx="2971800" cy="76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648325" y="1762125"/>
              <a:ext cx="285751" cy="285751"/>
              <a:chOff x="5648325" y="1762125"/>
              <a:chExt cx="285751" cy="28575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648325" y="17621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775325" y="1889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813584" y="1841500"/>
                <a:ext cx="41116" cy="41116"/>
              </a:xfrm>
              <a:custGeom>
                <a:avLst/>
                <a:gdLst/>
                <a:ahLst/>
                <a:cxnLst/>
                <a:rect l="l" t="t" r="r" b="b"/>
                <a:pathLst>
                  <a:path w="41116" h="41116">
                    <a:moveTo>
                      <a:pt x="0" y="41116"/>
                    </a:moveTo>
                    <a:lnTo>
                      <a:pt x="41116" y="0"/>
                    </a:ln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711825" y="18256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79375"/>
                    </a:moveTo>
                    <a:cubicBezTo>
                      <a:pt x="0" y="35537"/>
                      <a:pt x="35537" y="0"/>
                      <a:pt x="79375" y="0"/>
                    </a:cubicBez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591556" y="2167890"/>
              <a:ext cx="3511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M2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86984" y="2489835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带宽感知粒度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88508" y="3169920"/>
              <a:ext cx="24627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批落到饱和区，削减段数。</a:t>
              </a:r>
            </a:p>
            <a:p>
              <a:pPr algn="l">
                <a:lnSpc>
                  <a:spcPts val="3300"/>
                </a:lnSpc>
                <a:spcBef>
                  <a:spcPts val="900"/>
                </a:spcBef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只报段数与尾延迟，不报吞吐。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34400" y="1409700"/>
            <a:ext cx="3502152" cy="4762500"/>
            <a:chOff x="8534400" y="1409700"/>
            <a:chExt cx="3502152" cy="4762500"/>
          </a:xfrm>
        </p:grpSpPr>
        <p:sp>
          <p:nvSpPr>
            <p:cNvPr id="32" name="Rectangle 32"/>
            <p:cNvSpPr/>
            <p:nvPr/>
          </p:nvSpPr>
          <p:spPr>
            <a:xfrm>
              <a:off x="8534400" y="1409700"/>
              <a:ext cx="3200400" cy="476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534400" y="1409700"/>
              <a:ext cx="3200400" cy="76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826500" y="1778000"/>
              <a:ext cx="254001" cy="254001"/>
              <a:chOff x="8826500" y="1778000"/>
              <a:chExt cx="254001" cy="25400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826500" y="1778000"/>
                <a:ext cx="25400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1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826500" y="1905000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826500" y="1968501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0070C0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753856" y="2167890"/>
              <a:ext cx="3511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M3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49284" y="2489835"/>
              <a:ext cx="240818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计算-通信重叠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50808" y="3169920"/>
              <a:ext cx="3285744" cy="14218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event 依赖的 compute / copy 流水。</a:t>
              </a:r>
            </a:p>
            <a:p>
              <a:pPr algn="l">
                <a:lnSpc>
                  <a:spcPts val="3300"/>
                </a:lnSpc>
                <a:spcBef>
                  <a:spcPts val="900"/>
                </a:spcBef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单独 ≈1.00×，与 M1 合 1.92×。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第二章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08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10392004" cy="1082802"/>
            <a:chOff x="2190750" y="156210"/>
            <a:chExt cx="10392004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77536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M1：相邻段在两条流上重叠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103851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v1 曾把 2.0× 记在批处理头上；W1 证明 n_in_streams 并非 M1 的有效消融。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09800" y="1257300"/>
            <a:ext cx="9525000" cy="2857500"/>
            <a:chOff x="2209800" y="1257300"/>
            <a:chExt cx="9525000" cy="28575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rcRect t="20000" b="20000"/>
            <a:stretch>
              <a:fillRect/>
            </a:stretch>
          </p:blipFill>
          <p:spPr>
            <a:xfrm>
              <a:off x="2209800" y="1257300"/>
              <a:ext cx="9525000" cy="28575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2197608" y="4312920"/>
            <a:ext cx="10508772" cy="1935480"/>
            <a:chOff x="2197608" y="4312920"/>
            <a:chExt cx="10508772" cy="1935480"/>
          </a:xfrm>
        </p:grpSpPr>
        <p:sp>
          <p:nvSpPr>
            <p:cNvPr id="12" name="TextBox 12"/>
            <p:cNvSpPr txBox="1"/>
            <p:nvPr/>
          </p:nvSpPr>
          <p:spPr>
            <a:xfrm>
              <a:off x="2197608" y="4312920"/>
              <a:ext cx="95429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正确开关 m1_p1（P1 单流严格交替）；n_in_streams 实测 0.99–1.00×，无效。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7608" y="4846320"/>
              <a:ext cx="105087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M1 端到端 1.85×（43.83 vs 23.74ms），与通道层 1.85× 一致。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09800" y="5410200"/>
              <a:ext cx="9525000" cy="8382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26208" y="5684520"/>
              <a:ext cx="4885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0A4A86"/>
                  </a:solidFill>
                  <a:latin typeface="Consolas"/>
                  <a:ea typeface="Microsoft YaHei"/>
                  <a:cs typeface="Consolas"/>
                </a:rPr>
                <a:t>M1 单独 1.04× · M3 单独 1.00× → 协同 1.92×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第二章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09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9589770" cy="1082802"/>
            <a:chOff x="2190750" y="156210"/>
            <a:chExt cx="9589770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64990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M2：把批次放进饱和区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958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自适应的独立贡献是少切几段、削尾开销，不是再刷峰值带宽。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209800" y="1409700"/>
            <a:ext cx="9525000" cy="1905000"/>
            <a:chOff x="2209800" y="1409700"/>
            <a:chExt cx="9525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2209800" y="1409700"/>
              <a:ext cx="9525000" cy="19050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667000" y="1790700"/>
              <a:ext cx="1524000" cy="838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71800" y="1939290"/>
              <a:ext cx="914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&lt;0.5MB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07792" y="22631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开销主导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0" y="1790700"/>
              <a:ext cx="2667000" cy="838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25847" y="1939290"/>
              <a:ext cx="1759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饱和区 ≥0.5MB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80204" y="2263140"/>
              <a:ext cx="2450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batched ≈ 1.0× 单流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0" y="1790700"/>
              <a:ext cx="3429000" cy="838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6851" y="1939290"/>
              <a:ext cx="16952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16KB 仅 1.39×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57998" y="2263140"/>
              <a:ext cx="2553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细粒受罚：D1 慢 15.6%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57856" y="2853690"/>
              <a:ext cx="7356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对照粒度：C4 细粒 / 固定 page-64 / 固定 1–4MB / 自适应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96084" y="3518535"/>
            <a:ext cx="10745114" cy="2216277"/>
            <a:chOff x="2196084" y="3518535"/>
            <a:chExt cx="10745114" cy="2216277"/>
          </a:xfrm>
        </p:grpSpPr>
        <p:sp>
          <p:nvSpPr>
            <p:cNvPr id="22" name="TextBox 22"/>
            <p:cNvSpPr txBox="1"/>
            <p:nvPr/>
          </p:nvSpPr>
          <p:spPr>
            <a:xfrm>
              <a:off x="2196084" y="3518535"/>
              <a:ext cx="210129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H1 环回数字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7608" y="4084320"/>
              <a:ext cx="8837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fixed-2MB 1.78× · adaptive 1.73× · 迁移段数 32 → 21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97608" y="4617720"/>
              <a:ext cx="107435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小总量会被合并成单批；端到端 target_batches=8 保证流水窗还在。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97608" y="5265420"/>
              <a:ext cx="100559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M2 报段数与尾延迟；吞吐收益归 M1×M3。两本账分开记。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第二章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10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7541514" cy="1082802"/>
            <a:chOff x="2190750" y="156210"/>
            <a:chExt cx="7541514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64990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M3：计算不要坐等拷贝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没有重叠时，调度省下的时间会被通信等待吃掉。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09800" y="1219200"/>
            <a:ext cx="9525000" cy="2095500"/>
            <a:chOff x="2209800" y="1219200"/>
            <a:chExt cx="9525000" cy="20955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rcRect t="28000" b="28000"/>
            <a:stretch>
              <a:fillRect/>
            </a:stretch>
          </p:blipFill>
          <p:spPr>
            <a:xfrm>
              <a:off x="2209800" y="1219200"/>
              <a:ext cx="9525000" cy="2095500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2200656" y="3539490"/>
            <a:ext cx="4123944" cy="1451610"/>
            <a:chOff x="2200656" y="3539490"/>
            <a:chExt cx="4123944" cy="1451610"/>
          </a:xfrm>
        </p:grpSpPr>
        <p:sp>
          <p:nvSpPr>
            <p:cNvPr id="12" name="TextBox 12"/>
            <p:cNvSpPr txBox="1"/>
            <p:nvPr/>
          </p:nvSpPr>
          <p:spPr>
            <a:xfrm>
              <a:off x="2200656" y="3539490"/>
              <a:ext cx="15691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A4A86"/>
                  </a:solidFill>
                  <a:latin typeface="Arial"/>
                  <a:ea typeface="Arial"/>
                  <a:cs typeface="Arial"/>
                </a:rPr>
                <a:t>overlap ratio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9800" y="3886200"/>
              <a:ext cx="4114800" cy="1104900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6655308" y="3741420"/>
            <a:ext cx="6903110" cy="2506980"/>
            <a:chOff x="6655308" y="3741420"/>
            <a:chExt cx="6903110" cy="2506980"/>
          </a:xfrm>
        </p:grpSpPr>
        <p:sp>
          <p:nvSpPr>
            <p:cNvPr id="15" name="TextBox 15"/>
            <p:cNvSpPr txBox="1"/>
            <p:nvPr/>
          </p:nvSpPr>
          <p:spPr>
            <a:xfrm>
              <a:off x="6655308" y="3741420"/>
              <a:ext cx="28748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只靠 event 依赖，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5308" y="4160520"/>
              <a:ext cx="46158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不赌跨 stream 并发；单独 ≈1.00×。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5308" y="4693920"/>
              <a:ext cx="69031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队列+计算合一：单 kernel role-partition。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5219700"/>
              <a:ext cx="5067300" cy="10287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45808" y="5379720"/>
              <a:ext cx="265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7.76ms → 4.14ms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8856" y="5825490"/>
              <a:ext cx="3935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H3 环回 1.87×（量级相当时）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第三章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实验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11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7609789" cy="1082802"/>
            <a:chOff x="2190750" y="156210"/>
            <a:chExt cx="7609789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53811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和谁比：六模式控制面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76029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比的是控制面语义；D1/D2/E 与 C 同引擎，各只改一个变量。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09800" y="1409700"/>
            <a:ext cx="2971800" cy="4095750"/>
            <a:chOff x="2209800" y="1409700"/>
            <a:chExt cx="2971800" cy="4095750"/>
          </a:xfrm>
        </p:grpSpPr>
        <p:sp>
          <p:nvSpPr>
            <p:cNvPr id="10" name="Rectangle 10"/>
            <p:cNvSpPr/>
            <p:nvPr/>
          </p:nvSpPr>
          <p:spPr>
            <a:xfrm>
              <a:off x="2209800" y="1409700"/>
              <a:ext cx="297180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09800" y="1409700"/>
              <a:ext cx="2971800" cy="6858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34716" y="1575435"/>
              <a:ext cx="112196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A 静态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6208" y="2293620"/>
              <a:ext cx="2157984" cy="17266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必须等全部任务到达后一次性bulk 迁移+ 单 kernel。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72100" y="1409700"/>
            <a:ext cx="2971800" cy="4095750"/>
            <a:chOff x="5372100" y="1409700"/>
            <a:chExt cx="2971800" cy="4095750"/>
          </a:xfrm>
        </p:grpSpPr>
        <p:sp>
          <p:nvSpPr>
            <p:cNvPr id="15" name="Rectangle 15"/>
            <p:cNvSpPr/>
            <p:nvPr/>
          </p:nvSpPr>
          <p:spPr>
            <a:xfrm>
              <a:off x="5372100" y="1409700"/>
              <a:ext cx="297180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72100" y="1409700"/>
              <a:ext cx="2971800" cy="685800"/>
            </a:xfrm>
            <a:prstGeom prst="rect">
              <a:avLst/>
            </a:prstGeom>
            <a:solidFill>
              <a:srgbClr val="F3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2968" y="1575435"/>
              <a:ext cx="189006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B 动态细粒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88508" y="2293620"/>
              <a:ext cx="2462784" cy="17266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逐段迁移+ 逐段 sync。段门控 = 段内最后任务已到达。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34400" y="1409700"/>
            <a:ext cx="3200400" cy="4095750"/>
            <a:chOff x="8534400" y="1409700"/>
            <a:chExt cx="3200400" cy="4095750"/>
          </a:xfrm>
        </p:grpSpPr>
        <p:sp>
          <p:nvSpPr>
            <p:cNvPr id="20" name="Rectangle 20"/>
            <p:cNvSpPr/>
            <p:nvPr/>
          </p:nvSpPr>
          <p:spPr>
            <a:xfrm>
              <a:off x="8534400" y="1409700"/>
              <a:ext cx="3200400" cy="40957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70C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34400" y="1409700"/>
              <a:ext cx="3200400" cy="685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54286" y="1575435"/>
              <a:ext cx="13606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 Ferry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50808" y="2293620"/>
              <a:ext cx="2737104" cy="2145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C 批+双流+重叠；D1 单任务窃 / D2 偷一半 / E 成本感知批。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97608" y="5760720"/>
            <a:ext cx="10009632" cy="469392"/>
            <a:chOff x="2197608" y="5760720"/>
            <a:chExt cx="10009632" cy="469392"/>
          </a:xfrm>
        </p:grpSpPr>
        <p:sp>
          <p:nvSpPr>
            <p:cNvPr id="25" name="TextBox 25"/>
            <p:cNvSpPr txBox="1"/>
            <p:nvPr/>
          </p:nvSpPr>
          <p:spPr>
            <a:xfrm>
              <a:off x="2197608" y="5760720"/>
              <a:ext cx="100096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A02014"/>
                  </a:solidFill>
                  <a:latin typeface="Times New Roman"/>
                  <a:ea typeface="SimSun"/>
                  <a:cs typeface="Times New Roman"/>
                </a:rPr>
                <a:t>开环回放：到达前不得提交（否则负延迟作废）。归因拆三段，禁止笼统归因。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第三章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实验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12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9724187" cy="1082802"/>
            <a:chOff x="2190750" y="156210"/>
            <a:chExt cx="9724187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测两条到达，不测「泛稀疏」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97173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主场景 QSA-style miss 流：bursty C/A 7.99× · mixed 9.40×。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09800" y="1409700"/>
            <a:ext cx="5544007" cy="4000500"/>
            <a:chOff x="2209800" y="1409700"/>
            <a:chExt cx="5544007" cy="4000500"/>
          </a:xfrm>
        </p:grpSpPr>
        <p:sp>
          <p:nvSpPr>
            <p:cNvPr id="10" name="Rectangle 10"/>
            <p:cNvSpPr/>
            <p:nvPr/>
          </p:nvSpPr>
          <p:spPr>
            <a:xfrm>
              <a:off x="2209800" y="1409700"/>
              <a:ext cx="4762500" cy="4000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09800" y="1409700"/>
              <a:ext cx="76200" cy="40005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538984" y="1613535"/>
              <a:ext cx="27157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负载 A · 主场景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40508" y="2179320"/>
              <a:ext cx="29602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多请求持续 decode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40508" y="2636520"/>
              <a:ext cx="30626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热缓存 1× / 2× / 4×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40508" y="3093720"/>
              <a:ext cx="52132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</a:rPr>
                <a:t>steady / bursty / mixed-length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43556" y="38442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C/A 5.86×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43556" y="4225290"/>
              <a:ext cx="28412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70C0"/>
                  </a:solidFill>
                  <a:latin typeface="Consolas"/>
                  <a:ea typeface="Microsoft YaHei"/>
                  <a:cs typeface="Consolas"/>
                </a:rPr>
                <a:t>C/B 1.76× · refill 0.333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43556" y="4606290"/>
              <a:ext cx="2476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p99 11.67→3.87ms · 跨卡 2 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00900" y="1409700"/>
            <a:ext cx="4533900" cy="4000500"/>
            <a:chOff x="7200900" y="1409700"/>
            <a:chExt cx="45339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7200900" y="1409700"/>
              <a:ext cx="4533900" cy="4000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00900" y="1409700"/>
              <a:ext cx="76200" cy="4000500"/>
            </a:xfrm>
            <a:prstGeom prst="rect">
              <a:avLst/>
            </a:prstGeom>
            <a:solidFill>
              <a:srgbClr val="0A4A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30084" y="1613535"/>
              <a:ext cx="23317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负载 B · 机制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31608" y="2179320"/>
              <a:ext cx="35405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可控到达 / 稀疏 / 偏斜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1608" y="2636520"/>
              <a:ext cx="31000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payload 必须 KB 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34656" y="3158490"/>
              <a:ext cx="1669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4 / 16 / 64 KB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34656" y="3844290"/>
              <a:ext cx="287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02014"/>
                  </a:solidFill>
                  <a:latin typeface="Times New Roman"/>
                  <a:ea typeface="SimSun"/>
                  <a:cs typeface="Times New Roman"/>
                </a:rPr>
                <a:t>16K × 4B 是参数伪影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4656" y="4263390"/>
              <a:ext cx="41330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删除：GNN · MoE EP · 8×256K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第三章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实验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13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11947846" cy="1082802"/>
            <a:chOff x="2190750" y="156210"/>
            <a:chExt cx="11947846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开关很少，轴要能解释机制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119409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只扫能归因的组合；不扫语义模式、反压、NVSHMEM、serving SLO。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209800" y="1409700"/>
            <a:ext cx="9618878" cy="3810000"/>
            <a:chOff x="2209800" y="1409700"/>
            <a:chExt cx="9618878" cy="3810000"/>
          </a:xfrm>
        </p:grpSpPr>
        <p:sp>
          <p:nvSpPr>
            <p:cNvPr id="10" name="Rectangle 10"/>
            <p:cNvSpPr/>
            <p:nvPr/>
          </p:nvSpPr>
          <p:spPr>
            <a:xfrm>
              <a:off x="2209800" y="1409700"/>
              <a:ext cx="1524000" cy="5334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733800" y="1409700"/>
              <a:ext cx="4000500" cy="5334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734300" y="1409700"/>
              <a:ext cx="4000500" cy="5334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53056" y="15773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77056" y="15773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取值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77556" y="15773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备注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09800" y="1943100"/>
              <a:ext cx="15240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0C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33800" y="1943100"/>
              <a:ext cx="40005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0C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34300" y="1943100"/>
              <a:ext cx="40005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0C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53056" y="22440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硬件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77056" y="2244090"/>
              <a:ext cx="1852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</a:rPr>
                <a:t>1 / 2 / 3 / 4 GPU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7556" y="2129790"/>
              <a:ext cx="19129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两平台均已出数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7556" y="2434590"/>
              <a:ext cx="17721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4 卡矩阵 7 次/格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209800" y="2762250"/>
              <a:ext cx="1524000" cy="8191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0070C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33800" y="2762250"/>
              <a:ext cx="4000500" cy="8191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0070C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34300" y="2762250"/>
              <a:ext cx="4000500" cy="8191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0070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53056" y="30632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开关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77056" y="2948940"/>
              <a:ext cx="31802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</a:rPr>
                <a:t>m1_p1 × strategy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77056" y="325374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</a:rPr>
                <a:t>× overlap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77556" y="3063240"/>
              <a:ext cx="39511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去 M1(m1_p1) / M2 / M3 / 本地优先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09800" y="3581400"/>
              <a:ext cx="15240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0C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33800" y="3581400"/>
              <a:ext cx="40005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0C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734300" y="3581400"/>
              <a:ext cx="40005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0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53056" y="38823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输入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77056" y="3768090"/>
              <a:ext cx="2719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</a:rPr>
                <a:t>arrival × hot{1,2,4}×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77056" y="4072890"/>
              <a:ext cx="2642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× skew × 并发{1,2,4}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77556" y="3882390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不扫 8× 热缓存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209800" y="4400550"/>
              <a:ext cx="1524000" cy="8191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0070C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733800" y="4400550"/>
              <a:ext cx="4000500" cy="8191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0070C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34300" y="4400550"/>
              <a:ext cx="4000500" cy="819150"/>
            </a:xfrm>
            <a:prstGeom prst="rect">
              <a:avLst/>
            </a:prstGeom>
            <a:solidFill>
              <a:srgbClr val="F3F6FA"/>
            </a:solidFill>
            <a:ln w="9525">
              <a:solidFill>
                <a:srgbClr val="0070C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353056" y="47015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02014"/>
                  </a:solidFill>
                  <a:latin typeface="Arial"/>
                  <a:ea typeface="SimHei"/>
                  <a:cs typeface="Arial"/>
                </a:rPr>
                <a:t>不做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77056" y="4701540"/>
              <a:ext cx="42309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语义 / 反压 / NVSHMEM / SLO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77556" y="4701540"/>
              <a:ext cx="28629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02014"/>
                  </a:solidFill>
                  <a:latin typeface="Times New Roman"/>
                  <a:ea typeface="SimSun"/>
                  <a:cs typeface="Times New Roman"/>
                </a:rPr>
                <a:t>C/B 1.70–1.78×，未触发止损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第三章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实验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14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9536887" cy="1082802"/>
            <a:chOff x="2190750" y="156210"/>
            <a:chExt cx="9536887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两平台机制证据（比值可跨平台）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85587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环回只证机制；投稿数字出自 4 卡矩阵（PCIe4 + PCIe3）。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09800" y="1333500"/>
            <a:ext cx="2971800" cy="1524000"/>
            <a:chOff x="2209800" y="1333500"/>
            <a:chExt cx="2971800" cy="1524000"/>
          </a:xfrm>
        </p:grpSpPr>
        <p:sp>
          <p:nvSpPr>
            <p:cNvPr id="10" name="Rectangle 10"/>
            <p:cNvSpPr/>
            <p:nvPr/>
          </p:nvSpPr>
          <p:spPr>
            <a:xfrm>
              <a:off x="2209800" y="1333500"/>
              <a:ext cx="2971800" cy="1524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482850" y="1568450"/>
              <a:ext cx="177801" cy="177800"/>
              <a:chOff x="2482850" y="1568450"/>
              <a:chExt cx="177801" cy="177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2482850" y="1568450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177801" y="66675"/>
                    </a:moveTo>
                    <a:lnTo>
                      <a:pt x="0" y="66675"/>
                    </a:lnTo>
                    <a:lnTo>
                      <a:pt x="61119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482850" y="1679575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0"/>
                    </a:moveTo>
                    <a:lnTo>
                      <a:pt x="177801" y="0"/>
                    </a:lnTo>
                    <a:lnTo>
                      <a:pt x="116682" y="66675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24684" y="1880235"/>
              <a:ext cx="20076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11.0 / 5.95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29256" y="23964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GB/s 两平台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72100" y="1333500"/>
            <a:ext cx="2971800" cy="1524000"/>
            <a:chOff x="5372100" y="1333500"/>
            <a:chExt cx="2971800" cy="1524000"/>
          </a:xfrm>
        </p:grpSpPr>
        <p:sp>
          <p:nvSpPr>
            <p:cNvPr id="17" name="Rectangle 17"/>
            <p:cNvSpPr/>
            <p:nvPr/>
          </p:nvSpPr>
          <p:spPr>
            <a:xfrm>
              <a:off x="5372100" y="1333500"/>
              <a:ext cx="2971800" cy="1524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634038" y="1568450"/>
              <a:ext cx="200026" cy="177800"/>
              <a:chOff x="5634038" y="1568450"/>
              <a:chExt cx="200026" cy="177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634038" y="1657350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55563"/>
                    </a:moveTo>
                    <a:lnTo>
                      <a:pt x="111125" y="55563"/>
                    </a:lnTo>
                    <a:lnTo>
                      <a:pt x="72231" y="0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706325" y="1601788"/>
                <a:ext cx="127739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127739" h="55563">
                    <a:moveTo>
                      <a:pt x="127739" y="0"/>
                    </a:moveTo>
                    <a:lnTo>
                      <a:pt x="38838" y="0"/>
                    </a:ln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800726" y="1568450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800726" y="1679575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86984" y="1880235"/>
              <a:ext cx="10269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1.85→1.90×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91556" y="239649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M1 跨平台保持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534400" y="1333500"/>
            <a:ext cx="3200400" cy="1524000"/>
            <a:chOff x="8534400" y="1333500"/>
            <a:chExt cx="3200400" cy="1524000"/>
          </a:xfrm>
        </p:grpSpPr>
        <p:sp>
          <p:nvSpPr>
            <p:cNvPr id="26" name="Rectangle 26"/>
            <p:cNvSpPr/>
            <p:nvPr/>
          </p:nvSpPr>
          <p:spPr>
            <a:xfrm>
              <a:off x="8534400" y="1333500"/>
              <a:ext cx="3200400" cy="1524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785225" y="1546225"/>
              <a:ext cx="222251" cy="222251"/>
              <a:chOff x="8785225" y="1546225"/>
              <a:chExt cx="222251" cy="22225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785225" y="1640682"/>
                <a:ext cx="1111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794">
                    <a:moveTo>
                      <a:pt x="55563" y="66675"/>
                    </a:moveTo>
                    <a:lnTo>
                      <a:pt x="0" y="33338"/>
                    </a:lnTo>
                    <a:lnTo>
                      <a:pt x="55563" y="0"/>
                    </a:lnTo>
                    <a:lnTo>
                      <a:pt x="111125" y="33338"/>
                    </a:lnTo>
                    <a:lnTo>
                      <a:pt x="111125" y="94457"/>
                    </a:lnTo>
                    <a:lnTo>
                      <a:pt x="55563" y="127794"/>
                    </a:lnTo>
                    <a:lnTo>
                      <a:pt x="55563" y="66675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85225" y="1674019"/>
                <a:ext cx="5556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4457">
                    <a:moveTo>
                      <a:pt x="0" y="0"/>
                    </a:moveTo>
                    <a:lnTo>
                      <a:pt x="0" y="61119"/>
                    </a:lnTo>
                    <a:lnTo>
                      <a:pt x="55563" y="94457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840788" y="1674186"/>
                <a:ext cx="55563" cy="33671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33671">
                    <a:moveTo>
                      <a:pt x="0" y="33671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896350" y="1640682"/>
                <a:ext cx="1111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794">
                    <a:moveTo>
                      <a:pt x="55563" y="66675"/>
                    </a:moveTo>
                    <a:lnTo>
                      <a:pt x="0" y="33338"/>
                    </a:lnTo>
                    <a:lnTo>
                      <a:pt x="55563" y="0"/>
                    </a:lnTo>
                    <a:lnTo>
                      <a:pt x="111125" y="33338"/>
                    </a:lnTo>
                    <a:lnTo>
                      <a:pt x="111125" y="94457"/>
                    </a:lnTo>
                    <a:lnTo>
                      <a:pt x="55563" y="127794"/>
                    </a:lnTo>
                    <a:lnTo>
                      <a:pt x="55563" y="66675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896350" y="1735138"/>
                <a:ext cx="5556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33338">
                    <a:moveTo>
                      <a:pt x="0" y="0"/>
                    </a:moveTo>
                    <a:lnTo>
                      <a:pt x="55563" y="33338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951913" y="1674019"/>
                <a:ext cx="5556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33338">
                    <a:moveTo>
                      <a:pt x="0" y="33338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840788" y="1546225"/>
                <a:ext cx="1111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794">
                    <a:moveTo>
                      <a:pt x="55563" y="127794"/>
                    </a:moveTo>
                    <a:lnTo>
                      <a:pt x="55563" y="66675"/>
                    </a:lnTo>
                    <a:lnTo>
                      <a:pt x="0" y="33338"/>
                    </a:lnTo>
                    <a:lnTo>
                      <a:pt x="55563" y="0"/>
                    </a:lnTo>
                    <a:lnTo>
                      <a:pt x="111125" y="33338"/>
                    </a:lnTo>
                    <a:lnTo>
                      <a:pt x="111125" y="94457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840788" y="1579896"/>
                <a:ext cx="9525" cy="606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619">
                    <a:moveTo>
                      <a:pt x="0" y="0"/>
                    </a:moveTo>
                    <a:lnTo>
                      <a:pt x="0" y="60619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896350" y="1579563"/>
                <a:ext cx="5556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33338">
                    <a:moveTo>
                      <a:pt x="0" y="33338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749284" y="1880235"/>
              <a:ext cx="12450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1.92→1.93×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3856" y="2396490"/>
              <a:ext cx="20759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M1×M3 协同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09800" y="3048000"/>
            <a:ext cx="2971800" cy="1524000"/>
            <a:chOff x="2209800" y="3048000"/>
            <a:chExt cx="2971800" cy="1524000"/>
          </a:xfrm>
        </p:grpSpPr>
        <p:sp>
          <p:nvSpPr>
            <p:cNvPr id="40" name="Rectangle 40"/>
            <p:cNvSpPr/>
            <p:nvPr/>
          </p:nvSpPr>
          <p:spPr>
            <a:xfrm>
              <a:off x="2209800" y="3048000"/>
              <a:ext cx="2971800" cy="1524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82850" y="3282950"/>
              <a:ext cx="177801" cy="177801"/>
              <a:chOff x="2482850" y="3282950"/>
              <a:chExt cx="177801" cy="17780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2482850" y="3282950"/>
                <a:ext cx="177801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8900">
                    <a:moveTo>
                      <a:pt x="88900" y="0"/>
                    </a:moveTo>
                    <a:lnTo>
                      <a:pt x="0" y="44450"/>
                    </a:lnTo>
                    <a:lnTo>
                      <a:pt x="88900" y="88900"/>
                    </a:lnTo>
                    <a:lnTo>
                      <a:pt x="177801" y="44450"/>
                    </a:ln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482850" y="3371850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82850" y="3416301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2424684" y="3594735"/>
              <a:ext cx="10269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1.953×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29256" y="4110990"/>
              <a:ext cx="16971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C/A 4卡 steady-imb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372100" y="3048000"/>
            <a:ext cx="2971800" cy="1524000"/>
            <a:chOff x="5372100" y="3048000"/>
            <a:chExt cx="2971800" cy="1524000"/>
          </a:xfrm>
        </p:grpSpPr>
        <p:sp>
          <p:nvSpPr>
            <p:cNvPr id="48" name="Rectangle 48"/>
            <p:cNvSpPr/>
            <p:nvPr/>
          </p:nvSpPr>
          <p:spPr>
            <a:xfrm>
              <a:off x="5372100" y="3048000"/>
              <a:ext cx="2971800" cy="1524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634038" y="3282950"/>
              <a:ext cx="200025" cy="187326"/>
              <a:chOff x="5634038" y="3282950"/>
              <a:chExt cx="200025" cy="1873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634038" y="33718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767388" y="332740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22238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700713" y="3282950"/>
                <a:ext cx="666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1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1"/>
                      <a:pt x="55563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645150" y="3460751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5586984" y="3594735"/>
              <a:ext cx="183245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C/A 5.86×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91556" y="4110990"/>
              <a:ext cx="2029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Workload A 跨卡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534400" y="3048000"/>
            <a:ext cx="3200400" cy="1524000"/>
            <a:chOff x="8534400" y="3048000"/>
            <a:chExt cx="3200400" cy="1524000"/>
          </a:xfrm>
        </p:grpSpPr>
        <p:sp>
          <p:nvSpPr>
            <p:cNvPr id="57" name="Rectangle 57"/>
            <p:cNvSpPr/>
            <p:nvPr/>
          </p:nvSpPr>
          <p:spPr>
            <a:xfrm>
              <a:off x="8534400" y="3048000"/>
              <a:ext cx="3200400" cy="1524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796338" y="3271838"/>
              <a:ext cx="200026" cy="200026"/>
              <a:chOff x="8796338" y="3271838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796338" y="3271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896350" y="331628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22225">
                <a:solidFill>
                  <a:srgbClr val="0070C0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749284" y="3594735"/>
              <a:ext cx="20265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0A4A86"/>
                  </a:solidFill>
                  <a:latin typeface="Consolas"/>
                  <a:ea typeface="Consolas"/>
                  <a:cs typeface="Consolas"/>
                </a:rPr>
                <a:t>11.67→3.87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53856" y="4110990"/>
              <a:ext cx="22841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44546A"/>
                  </a:solidFill>
                  <a:latin typeface="Times New Roman"/>
                  <a:ea typeface="Times New Roman"/>
                  <a:cs typeface="Times New Roman"/>
                </a:rPr>
                <a:t>p99 ms · refill 0.333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209800" y="4953000"/>
            <a:ext cx="10908792" cy="1038225"/>
            <a:chOff x="2209800" y="4953000"/>
            <a:chExt cx="10908792" cy="1038225"/>
          </a:xfrm>
        </p:grpSpPr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4953000"/>
              <a:ext cx="2190750" cy="1038225"/>
            </a:xfrm>
            <a:prstGeom prst="rect">
              <a:avLst/>
            </a:prstGeom>
          </p:spPr>
        </p:pic>
        <p:sp>
          <p:nvSpPr>
            <p:cNvPr id="65" name="TextBox 65"/>
            <p:cNvSpPr txBox="1"/>
            <p:nvPr/>
          </p:nvSpPr>
          <p:spPr>
            <a:xfrm>
              <a:off x="4559808" y="5265420"/>
              <a:ext cx="85587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扩展 E：C(imb) 1.00/1.04/1.15/1.31 vs A 仅 1.04。本地队列降级为消融。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752600" cy="6858000"/>
            <a:chOff x="0" y="0"/>
            <a:chExt cx="17526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7526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36042" y="692468"/>
              <a:ext cx="68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4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第三章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2232" y="1106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实验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6804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15 / 16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0750" y="156210"/>
            <a:ext cx="9669018" cy="1082802"/>
            <a:chOff x="2190750" y="156210"/>
            <a:chExt cx="9669018" cy="1082802"/>
          </a:xfrm>
        </p:grpSpPr>
        <p:sp>
          <p:nvSpPr>
            <p:cNvPr id="7" name="TextBox 7"/>
            <p:cNvSpPr txBox="1"/>
            <p:nvPr/>
          </p:nvSpPr>
          <p:spPr>
            <a:xfrm>
              <a:off x="2190750" y="156210"/>
              <a:ext cx="53811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五项必做已全关，不改题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7608" y="769620"/>
              <a:ext cx="9662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R1–R5 全 ✓；剩下的是 Workload A 的 4 卡闭环。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00656" y="1417320"/>
            <a:ext cx="10874654" cy="469392"/>
            <a:chOff x="2200656" y="1417320"/>
            <a:chExt cx="10874654" cy="469392"/>
          </a:xfrm>
        </p:grpSpPr>
        <p:sp>
          <p:nvSpPr>
            <p:cNvPr id="10" name="TextBox 10"/>
            <p:cNvSpPr txBox="1"/>
            <p:nvPr/>
          </p:nvSpPr>
          <p:spPr>
            <a:xfrm>
              <a:off x="2200656" y="14820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R1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69108" y="1417320"/>
              <a:ext cx="103062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✓ 门控 + KB 级 payload；无负延迟，C/A 1.96–2.83×。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00656" y="2065020"/>
            <a:ext cx="8905342" cy="469392"/>
            <a:chOff x="2200656" y="2065020"/>
            <a:chExt cx="8905342" cy="469392"/>
          </a:xfrm>
        </p:grpSpPr>
        <p:sp>
          <p:nvSpPr>
            <p:cNvPr id="13" name="TextBox 13"/>
            <p:cNvSpPr txBox="1"/>
            <p:nvPr/>
          </p:nvSpPr>
          <p:spPr>
            <a:xfrm>
              <a:off x="2200656" y="21297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R2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69108" y="2065020"/>
              <a:ext cx="83368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✓ 执行器跨卡接线：payload 驻 src，计算/队列驻 dst。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00656" y="2712720"/>
            <a:ext cx="7142378" cy="469392"/>
            <a:chOff x="2200656" y="2712720"/>
            <a:chExt cx="7142378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2200656" y="27774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R3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69108" y="2712720"/>
              <a:ext cx="6573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✓ 2 卡矩阵 → 4 卡；两平台各 7 次重复。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200656" y="3360420"/>
            <a:ext cx="6737604" cy="469392"/>
            <a:chOff x="2200656" y="3360420"/>
            <a:chExt cx="6737604" cy="469392"/>
          </a:xfrm>
        </p:grpSpPr>
        <p:sp>
          <p:nvSpPr>
            <p:cNvPr id="19" name="TextBox 19"/>
            <p:cNvSpPr txBox="1"/>
            <p:nvPr/>
          </p:nvSpPr>
          <p:spPr>
            <a:xfrm>
              <a:off x="2200656" y="34251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R4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69108" y="3360420"/>
              <a:ext cx="6169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✓ 消融矩阵落盘（含正确的 M1 对照 m1_p1）。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00656" y="4008120"/>
            <a:ext cx="7096049" cy="469392"/>
            <a:chOff x="2200656" y="4008120"/>
            <a:chExt cx="7096049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2200656" y="40728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R5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69108" y="4008120"/>
              <a:ext cx="65275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✓ overlap ratio 三项独立 event 计时入表。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09800" y="4762500"/>
            <a:ext cx="12800990" cy="1333500"/>
            <a:chOff x="2209800" y="4762500"/>
            <a:chExt cx="12800990" cy="1333500"/>
          </a:xfrm>
        </p:grpSpPr>
        <p:sp>
          <p:nvSpPr>
            <p:cNvPr id="25" name="Rectangle 25"/>
            <p:cNvSpPr/>
            <p:nvPr/>
          </p:nvSpPr>
          <p:spPr>
            <a:xfrm>
              <a:off x="2209800" y="4762500"/>
              <a:ext cx="9525000" cy="1333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02014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465759" y="5143516"/>
              <a:ext cx="288171" cy="247577"/>
              <a:chOff x="2465759" y="5143516"/>
              <a:chExt cx="288171" cy="24757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609850" y="52339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A0201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465759" y="514351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A0201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609850" y="5334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A02014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921508" y="51130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A02014"/>
                  </a:solidFill>
                  <a:latin typeface="Arial"/>
                  <a:ea typeface="SimHei"/>
                  <a:cs typeface="Arial"/>
                </a:rPr>
                <a:t>止损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26208" y="5570220"/>
              <a:ext cx="125845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止损未触发（C/B 1.70–1.78×）。B2 无增益 → 粒度结论改为阈值型。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52400" cy="6858000"/>
            <a:chOff x="0" y="0"/>
            <a:chExt cx="1524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742950" y="643890"/>
            <a:ext cx="3006471" cy="1245870"/>
            <a:chOff x="742950" y="643890"/>
            <a:chExt cx="3006471" cy="1245870"/>
          </a:xfrm>
        </p:grpSpPr>
        <p:sp>
          <p:nvSpPr>
            <p:cNvPr id="4" name="TextBox 4"/>
            <p:cNvSpPr txBox="1"/>
            <p:nvPr/>
          </p:nvSpPr>
          <p:spPr>
            <a:xfrm>
              <a:off x="752856" y="643890"/>
              <a:ext cx="1108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spc="300" dirty="0">
                  <a:solidFill>
                    <a:srgbClr val="0070C0"/>
                  </a:solidFill>
                  <a:latin typeface="Arial"/>
                  <a:ea typeface="SimHei"/>
                  <a:cs typeface="Arial"/>
                </a:rPr>
                <a:t>下课带走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1070610"/>
              <a:ext cx="30064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记住这三句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950" y="2019300"/>
            <a:ext cx="9456683" cy="1200912"/>
            <a:chOff x="742950" y="2019300"/>
            <a:chExt cx="9456683" cy="1200912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2019300"/>
              <a:ext cx="9265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81784" y="2261235"/>
              <a:ext cx="284435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问题是 miss 回填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3308" y="2750820"/>
              <a:ext cx="81163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不是「再做一个 HiSparse」。QSA 只提供到达。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2950" y="3352800"/>
            <a:ext cx="8192262" cy="1200912"/>
            <a:chOff x="742950" y="3352800"/>
            <a:chExt cx="8192262" cy="1200912"/>
          </a:xfrm>
        </p:grpSpPr>
        <p:sp>
          <p:nvSpPr>
            <p:cNvPr id="11" name="TextBox 11"/>
            <p:cNvSpPr txBox="1"/>
            <p:nvPr/>
          </p:nvSpPr>
          <p:spPr>
            <a:xfrm>
              <a:off x="742950" y="3352800"/>
              <a:ext cx="9265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1784" y="3594735"/>
              <a:ext cx="28881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引擎是交互项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3308" y="4084320"/>
              <a:ext cx="68519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M1、M3 单独各 ≈1.0×，合起来 1.92×。三本账分开记。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2950" y="4686300"/>
            <a:ext cx="8158124" cy="1200912"/>
            <a:chOff x="742950" y="4686300"/>
            <a:chExt cx="8158124" cy="1200912"/>
          </a:xfrm>
        </p:grpSpPr>
        <p:sp>
          <p:nvSpPr>
            <p:cNvPr id="15" name="TextBox 15"/>
            <p:cNvSpPr txBox="1"/>
            <p:nvPr/>
          </p:nvSpPr>
          <p:spPr>
            <a:xfrm>
              <a:off x="742950" y="4686300"/>
              <a:ext cx="9265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dirty="0">
                  <a:solidFill>
                    <a:srgbClr val="0070C0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1784" y="4928235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0A4A86"/>
                  </a:solidFill>
                  <a:latin typeface="Arial"/>
                  <a:ea typeface="SimHei"/>
                  <a:cs typeface="Arial"/>
                </a:rPr>
                <a:t>数字要能解释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3308" y="5417820"/>
              <a:ext cx="68177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A1A1A"/>
                  </a:solidFill>
                  <a:latin typeface="Times New Roman"/>
                  <a:ea typeface="SimSun"/>
                  <a:cs typeface="Times New Roman"/>
                </a:rPr>
                <a:t>吞吐、段数、p99；粒度只贡献 1.13×，但窃取 ↓175×。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2856" y="6282690"/>
            <a:ext cx="10492740" cy="352044"/>
            <a:chOff x="752856" y="6282690"/>
            <a:chExt cx="10492740" cy="352044"/>
          </a:xfrm>
        </p:grpSpPr>
        <p:sp>
          <p:nvSpPr>
            <p:cNvPr id="19" name="TextBox 19"/>
            <p:cNvSpPr txBox="1"/>
            <p:nvPr/>
          </p:nvSpPr>
          <p:spPr>
            <a:xfrm>
              <a:off x="752856" y="6282690"/>
              <a:ext cx="39099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4546A"/>
                  </a:solidFill>
                  <a:latin typeface="Times New Roman"/>
                  <a:ea typeface="SimSun"/>
                  <a:cs typeface="Times New Roman"/>
                </a:rPr>
                <a:t>热 KV 放 GPU · 冷历史放 Host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92232" y="63474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16 / 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4180</Words>
  <Application>Microsoft Office PowerPoint</Application>
  <PresentationFormat>宽屏</PresentationFormat>
  <Paragraphs>229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宋体</vt:lpstr>
      <vt:lpstr>Arial</vt:lpstr>
      <vt:lpstr>Calibri</vt:lpstr>
      <vt:lpstr>Consolas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志轩 张</cp:lastModifiedBy>
  <cp:revision>5</cp:revision>
  <dcterms:created xsi:type="dcterms:W3CDTF">2026-09-17T07:44:21Z</dcterms:created>
  <dcterms:modified xsi:type="dcterms:W3CDTF">2026-09-27T12:20:20Z</dcterms:modified>
  <cp:category/>
  <cp:contentStatus/>
  <dc:language/>
</cp:coreProperties>
</file>