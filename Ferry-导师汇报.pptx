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3" r:id="rId24"/>
    <p:sldId id="258" r:id="rId4"/>
    <p:sldId id="259" r:id="rId5"/>
    <p:sldId id="260" r:id="rId6"/>
    <p:sldId id="261" r:id="rId7"/>
    <p:sldId id="271" r:id="rId8"/>
    <p:sldId id="262" r:id="rId9"/>
    <p:sldId id="272" r:id="rId10"/>
    <p:sldId id="263" r:id="rId11"/>
    <p:sldId id="264" r:id="rId12"/>
    <p:sldId id="265" r:id="rId13"/>
    <p:sldId id="268" r:id="rId14"/>
    <p:sldId id="269" r:id="rId15"/>
    <p:sldId id="270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53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5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老师好。这项工作叫</a:t>
            </a:r>
            <a:r>
              <a:rPr dirty="0"/>
              <a:t> </a:t>
            </a:r>
            <a:r>
              <a:rPr dirty="0" err="1"/>
              <a:t>Ferry。一句话先放在这里：KV</a:t>
            </a:r>
            <a:r>
              <a:rPr dirty="0"/>
              <a:t> cache </a:t>
            </a:r>
            <a:r>
              <a:rPr dirty="0" err="1"/>
              <a:t>放在主机内存里，多张卡一起做</a:t>
            </a:r>
            <a:r>
              <a:rPr dirty="0"/>
              <a:t> decode。卡和卡忙闲不均的时候，怎么分活、怎么搬数据最划算。今天大约二十分钟，按问题、别人做到哪、我的做法、实验、下一步来讲。代码在 github.com/clearleo126/</a:t>
            </a:r>
            <a:r>
              <a:rPr dirty="0" err="1"/>
              <a:t>ferry，投稿目标是</a:t>
            </a:r>
            <a:r>
              <a:rPr dirty="0"/>
              <a:t> ICDCS。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先讲问题从哪来，就三件事。第一，decode 的 KV 太大，卡放不下。完整 KV 放主机内存，卡上只留热的，缺了走 PCIe 回填。第二，多卡是把请求分到各张卡，但请求长短和到达不均匀，就会有的卡忙死、有的卡闲着。第三，3090 没有卡间直连，卡和卡搬数据必须经过主机内存。这条路又慢，还和回填抢同一条 PCIe。后面所有设计都是在躲这条窄路。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相关工作我只对三篇，每篇一句。Shetty 管的是一张卡内部的任务队列。HiSparse 是在单卡上把稀疏注意力的 KV 分层放在主机和显卡。Llumnix 会在实例之间迁请求做均衡，但它迁走的数据源端已经不用了，可以慢慢拷。我要迁的数据是对方马上要用的，只能和回填挤同一条通道。所以定位是：单卡前人做了；多卡、没有直连、迁移数据马上要用，这个组合还没人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Ferry 的做法不复杂，三步。每张卡一个本地队列，先做自己的活。哪张卡空了，就从当前最忙的卡一次偷一批，不是一个一个偷。搬数据仍然要经过主机内存，因为没有直连；所以把搬运和计算做成流水线，卡上不用干等。右图里 GPU 0 队列空了，GPU 3 最忙，偷的是一批，数据从主机内存中转过去。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三个机制用大白话讲。M1：去和回两个方向用独立的流同时传，不再一来一回。M2：一次搬多少，按 PCIe 的带宽饱和点来定。M3：边算边传。我想单独停在这个发现上：M1 或 M3 单独开，几乎都是 1 倍；两个一起开是 1.92 倍。原因是只有传输不再堵死，计算才有空隙去重叠。柱子上的约 1.0 倍是量级，不是我测到了恰好 1.00。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实验在两套机器上做，都是 4 张 3090，都没有 P2P。实验室是 PCIe 4，卡间大约 11 GB/s，主数字在这里出。vast.ai 是 PCIe 3，带宽大约一半，5.95 GB/s，用来看结论换一台机器还成不成立。负载有两类：合成任务流，偏斜和突发可以控；还有真实的 LLM decode 请求，迁移的是 KV。每组 5 到 7 次，报均值和标准差。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这一页只证明问题存在。静态把请求平均分下去，4 卡的不均衡度到 1.38。从 1 张卡加到 4 张卡，吞吐只涨了 4%。也就是加卡几乎白加，因为整组的完成时间被最慢的那张卡卡住了。下面的柱子是示意图，用来让老师看见「有一张卡明显更晚结束」。我没有在大纲里写每张卡的原始完成时间，所以柱上不标毫秒。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这一页只证明问题存在。静态把请求平均分下去，4 卡的不均衡度到 1.38。从 1 张卡加到 4 张卡，吞吐只涨了 4%。也就是加卡几乎白加，因为整组的完成时间被最慢的那张卡卡住了。下面的柱子是示意图，用来让老师看见「有一张卡明显更晚结束」。我没有在大纲里写每张卡的原始完成时间，所以柱上不标毫秒。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主结果看 4 卡偏斜。Ferry 比静态分配快 1.95 倍，比一个一个偷快 1.77 倍。窃取次数从大约 2 万次降到大约 100 次。从 1 卡扩到 4 卡，Ferry 的吞吐是 1.40 倍，静态分配只有 1.04 倍，和上一页的加 4% 是同一件事。两套机器带宽差大约 2 倍，机制倍数是 1.92 和 1.93，基本不变，所以这个结论不依赖实验室这一台机器。右边的柱子是用这些倍数换算的相对耗时，Ferry 记为 1。四种到达场景的原始 makespan 表大纲里没写，我没有补造。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这一页是把功劳讲诚实。总加速拆开，流水化的执行引擎大约 1.55 倍，批量窃取大约 1.13 倍。主要功劳在引擎，不在怎么偷。我还做了对照：把经典的偷一半放进同一个引擎，效果和我自己的策略差不多。所以窃取策略我不当核心卖点。老师如果问新颖性在哪，答案是这条流水化的运行时，以及它在无 P2P 上怎么和回填共处，不是一个新的偷法。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这一页讲一次失败，我觉得比报喜更要紧。我做过一个成本感知的批大小，按积压、在途和带宽实时调，记作 E。合成负载上五档参数全是平的，没有收益。原因是那个负载只搬任务编号，不搬数据，总传输量是恒定的，决策没有对象。后来改成真实的 LLM 请求迁移，偷请求时把热 KV 一起搬走，E 才生效：迁移数据量少了 31% 到 92%，均衡更好，吞吐不降。我从这里得到的句子是：决策有没有用，取决于代价模型写的是不是真实代价。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现状分两列。已经做完的是：问题验证、三个机制、4 卡主结果、跨平台，以及 LLM 请求迁移这条闭环。还差三件。第一，也是我接下来最先做的，排除实现开销的干扰，确认 E 的净收益，不要把实现上的固定开销算进决策的功劳。第二，讲清楚请求为什么一开始就绑在某张卡上，也就是前缀缓存的亲和性。第三，到带宽更窄的平台上看一个预测：带宽越窄，E 的收益应该越大。投稿目标是 ICDCS。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收成一句话。在没有卡间直连的消费级多卡上，我把 LLM decode 的负载均衡做成了一个流水化的运行时。4 卡比静态分配快近 2 倍。收益主要来自流水化引擎，不来自窃取策略本身。另外，决策只有在代价模型反映真实搬运代价时才有用。谢谢老师，请批评。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20624"/>
            <a:ext cx="841248" cy="787741"/>
          </a:xfrm>
          <a:prstGeom prst="rect">
            <a:avLst/>
          </a:prstGeom>
        </p:spPr>
      </p:pic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9616" y="530352"/>
            <a:ext cx="1691640" cy="6668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10972800" cy="77724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6000" b="1" dirty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Ferry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1097280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 dirty="0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面向 LLM 稀疏注意力 decode 的多 GPU 运行时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3520440"/>
            <a:ext cx="9720072" cy="13258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17320" y="3657600"/>
            <a:ext cx="9372600" cy="1078992"/>
          </a:xfrm>
          <a:prstGeom prst="rect">
            <a:avLst/>
          </a:prstGeom>
          <a:noFill/>
        </p:spPr>
        <p:txBody>
          <a:bodyPr wrap="square" lIns="54864" tIns="36576" rIns="54864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KV cache 放在主机内存里，多张卡一起 decode。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lang="zh-CN" altLang="en-US" sz="18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卡之间负载不均时，怎么分活、怎么搬数据最划算。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02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问题从哪来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3611880" cy="2487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972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324612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KV 放不下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76272"/>
            <a:ext cx="3282696" cy="150876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decode 的 KV 太大，一张卡放不下。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完整 KV 留在主机内存。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显卡只留正在用的。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缺了，就经 PCIe 补回来。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353312"/>
            <a:ext cx="3611880" cy="2487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62272" y="1463040"/>
            <a:ext cx="10972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1755648"/>
            <a:ext cx="324612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忙闲不均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2176272"/>
            <a:ext cx="3282696" cy="150876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每张卡分到一部分请求。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请求有长有短，到达有早有晚。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于是有的卡忙死，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有的卡闲着。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353312"/>
            <a:ext cx="3611880" cy="2487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38744" y="1463040"/>
            <a:ext cx="10972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1755648"/>
            <a:ext cx="324612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没有直连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2176272"/>
            <a:ext cx="3282696" cy="150876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3090 这类卡不能直连。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卡间搬运要经主机内存。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这条路又慢，还和回填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抢同一条 PCIe。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23360"/>
            <a:ext cx="11183112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13232" y="4187952"/>
            <a:ext cx="10762488" cy="566928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4187952"/>
            <a:ext cx="10762488" cy="56692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主机内存    ·    完整 KV cache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只留热数据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84448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84448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只留热数据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5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08775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5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只留热数据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33104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33104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只留热数据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03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热点挤压：一张卡吸走大部分请求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3611880" cy="2487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972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324612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前缀缓存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76272"/>
            <a:ext cx="3282696" cy="150876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请求开头相同，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算过的 KV 可以复用，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不用重算。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353312"/>
            <a:ext cx="3611880" cy="2487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62272" y="1463040"/>
            <a:ext cx="10972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1755648"/>
            <a:ext cx="324612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亲和路由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2176272"/>
            <a:ext cx="3282696" cy="150876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所以路由倾向把开头相同的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请求送去同一张卡 ——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复用率最高。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353312"/>
            <a:ext cx="3611880" cy="2487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38744" y="1463040"/>
            <a:ext cx="10972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1755648"/>
            <a:ext cx="324612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挤压成形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2176272"/>
            <a:ext cx="3282696" cy="150876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热门开头（共用的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system prompt）把大量请求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吸到同一张卡上，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其他卡闲着。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23360"/>
            <a:ext cx="11183112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13232" y="4187952"/>
            <a:ext cx="10762488" cy="566928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4187952"/>
            <a:ext cx="10762488" cy="56692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前缀亲和性    ·    开头相同的请求都去同一张卡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FFE3C2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B45309"/>
                </a:solidFill>
                <a:latin typeface="微软雅黑"/>
                <a:ea typeface="微软雅黑"/>
                <a:cs typeface="微软雅黑"/>
              </a:rPr>
              <a:t>GPU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B45309"/>
                </a:solidFill>
                <a:latin typeface="微软雅黑"/>
                <a:ea typeface="微软雅黑"/>
                <a:cs typeface="微软雅黑"/>
              </a:rPr>
              <a:t>热点 · 排队积压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84448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84448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闲着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5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08775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5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闲着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33104" y="5175504"/>
            <a:ext cx="2331720" cy="98755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33104" y="5248656"/>
            <a:ext cx="2331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5577840"/>
            <a:ext cx="233172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闲着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4754880"/>
            <a:ext cx="10762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E5D6C"/>
                </a:solidFill>
                <a:latin typeface="微软雅黑"/>
                <a:latin typeface="微软雅黑"/>
                <a:ea typeface="微软雅黑"/>
              </a:rPr>
              <a:t>工业界的解法：饱和前守亲和，饱和后改派新请求 —— 但已经排在热卡上的存量，搬不动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04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单卡有人做了，这个组合还没有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433271"/>
              </p:ext>
            </p:extLst>
          </p:nvPr>
        </p:nvGraphicFramePr>
        <p:xfrm>
          <a:off x="502920" y="1353312"/>
          <a:ext cx="11183112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86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</a:t>
                      </a:r>
                    </a:p>
                  </a:txBody>
                  <a:tcPr marL="109728" marT="54864" marB="54864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做了什么</a:t>
                      </a:r>
                    </a:p>
                  </a:txBody>
                  <a:tcPr marL="109728" marT="54864" marB="54864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和 Ferry 的差别</a:t>
                      </a:r>
                    </a:p>
                  </a:txBody>
                  <a:tcPr marL="109728" marT="54864" marB="54864" anchor="ctr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86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Shetty </a:t>
                      </a:r>
                      <a:br>
                        <a:rPr lang="en-US" altLang="zh-CN" sz="1400" b="1" dirty="0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</a:br>
                      <a:r>
                        <a:rPr lang="en-US" altLang="zh-CN" sz="1400" b="1" dirty="0" err="1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arXiv</a:t>
                      </a:r>
                      <a:r>
                        <a:rPr lang="en-US" altLang="zh-CN" sz="1400" b="1" dirty="0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2026</a:t>
                      </a:r>
                      <a:endParaRPr lang="zh-CN" altLang="en-US" sz="1400" b="1" dirty="0">
                        <a:solidFill>
                          <a:srgbClr val="0A4E8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 GPU 的并发任务队列，可线性化，并保证进度。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只管一张卡内部。我做多卡之间的调度。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86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HiSparse
arXiv 2026</a:t>
                      </a:r>
                    </a:p>
                  </a:txBody>
                  <a:tcPr marL="109728" marT="54864" marB="54864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单卡上，把稀疏注意力的 KV 分层放在主机和显卡。</a:t>
                      </a:r>
                    </a:p>
                  </a:txBody>
                  <a:tcPr marL="109728" marT="54864" marB="54864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只管单卡。我把它扩到多卡，并处理卡和卡之间的失衡。</a:t>
                      </a:r>
                    </a:p>
                  </a:txBody>
                  <a:tcPr marL="109728" marT="54864" marB="54864" anchor="ctr">
                    <a:solidFill>
                      <a:srgbClr val="F4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86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>
                          <a:solidFill>
                            <a:srgbClr val="0A4E8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Llumnix
OSDI 2024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 dirty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在多个实例之间迁移请求，用来做负载均衡。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0" dirty="0">
                          <a:solidFill>
                            <a:srgbClr val="1B283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它迁走的 KV，源端已经不用，可以后台慢慢拷。我要迁的数据对方马上要用，只能和回填挤同一条通道。</a:t>
                      </a:r>
                    </a:p>
                  </a:txBody>
                  <a:tcPr marL="109728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21808"/>
            <a:ext cx="11183112" cy="1024128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413248"/>
            <a:ext cx="10881360" cy="868680"/>
          </a:xfrm>
          <a:prstGeom prst="rect">
            <a:avLst/>
          </a:prstGeom>
          <a:noFill/>
        </p:spPr>
        <p:txBody>
          <a:bodyPr wrap="square" lIns="54864" tIns="36576" rIns="54864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一句话定位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单卡的问题前人做了。多卡、无 P2P、迁移的数据马上要用，这个组合还没人做。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05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Ferry：本地优先，空了就成批去偷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35024"/>
            <a:ext cx="5806440" cy="14447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76656" y="1773936"/>
            <a:ext cx="530352" cy="53035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1773936"/>
            <a:ext cx="530352" cy="530352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499616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先做自己的活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901952"/>
            <a:ext cx="4663440" cy="7498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每张卡一个本地任务队列。队列里还有自己的请求，就优先处理，不去碰别人。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907791"/>
            <a:ext cx="5806440" cy="14447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76656" y="3346703"/>
            <a:ext cx="530352" cy="53035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3346703"/>
            <a:ext cx="530352" cy="530352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072384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空了，一次偷一批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474720"/>
            <a:ext cx="4663440" cy="7498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某张卡队列空了，就从最忙的那张卡一次偷一批，不是一次偷一个。少偷很多次，少走很多次 PCIe。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4480560"/>
            <a:ext cx="5806440" cy="14447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76656" y="4919472"/>
            <a:ext cx="530352" cy="530352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4919472"/>
            <a:ext cx="530352" cy="530352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4645152"/>
            <a:ext cx="466344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搬数据和计算叠在一起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5047488"/>
            <a:ext cx="4663440" cy="7498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数据经主机内存中转的同时，卡上继续算。传输和计算做成流水线，不等搬运结束再开工。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3952" y="1335024"/>
            <a:ext cx="5212080" cy="47183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656832" y="1499616"/>
            <a:ext cx="4846320" cy="713232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56832" y="1536192"/>
            <a:ext cx="4846320" cy="640080"/>
          </a:xfrm>
          <a:prstGeom prst="rect">
            <a:avLst/>
          </a:prstGeom>
          <a:noFill/>
        </p:spPr>
        <p:txBody>
          <a:bodyPr wrap="square" lIns="54864" tIns="36576" rIns="54864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主机内存</a:t>
            </a:r>
          </a:p>
          <a:p>
            <a:pPr algn="ctr">
              <a:spcBef>
                <a:spcPts val="10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卡间数据只在这里中转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56832" y="2359152"/>
            <a:ext cx="4846320" cy="384048"/>
          </a:xfrm>
          <a:prstGeom prst="roundRect">
            <a:avLst>
              <a:gd name="adj" fmla="val 6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56832" y="2359152"/>
            <a:ext cx="4846320" cy="38404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一次偷一批    ·    从最忙的卡搬到空卡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8272" y="2816352"/>
            <a:ext cx="1078992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GPU 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48272" y="4663440"/>
            <a:ext cx="1078992" cy="777240"/>
          </a:xfrm>
          <a:prstGeom prst="roundRect">
            <a:avLst>
              <a:gd name="adj" fmla="val 10000"/>
            </a:avLst>
          </a:prstGeom>
          <a:solidFill>
            <a:srgbClr val="E8F6EE"/>
          </a:solidFill>
          <a:ln w="12700">
            <a:solidFill>
              <a:srgbClr val="1B7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48272" y="4663440"/>
            <a:ext cx="1078992" cy="77724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队列空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1696" y="5504688"/>
            <a:ext cx="1152144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空了，去偷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36992" y="2816352"/>
            <a:ext cx="1078992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19" y="516636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046719" y="484632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00416" y="5504688"/>
            <a:ext cx="1152144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自己还有活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2816352"/>
            <a:ext cx="1078992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GPU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516636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235440" y="484632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235440" y="4526280"/>
            <a:ext cx="859536" cy="2560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089136" y="5504688"/>
            <a:ext cx="1152144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自己还有活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2" y="2816352"/>
            <a:ext cx="1078992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GPU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424159" y="516636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424159" y="484632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0424159" y="452628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0424159" y="420624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0424159" y="388620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0424159" y="3566160"/>
            <a:ext cx="859536" cy="256031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277856" y="5504688"/>
            <a:ext cx="1152144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最忙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06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三个机制，一起开才有用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58978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713232" cy="475488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13232" cy="475488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1426464"/>
            <a:ext cx="4617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双向同时传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1773936"/>
            <a:ext cx="461772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去和回各用一条流，同时传。不再一来一回。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414015"/>
            <a:ext cx="58978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2670048"/>
            <a:ext cx="713232" cy="475488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713232" cy="475488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542032"/>
            <a:ext cx="4617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批大小跟着饱和点走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889503"/>
            <a:ext cx="461772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一次搬多少，按 PCIe 带宽的饱和点来定。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3529584"/>
            <a:ext cx="58978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3785615"/>
            <a:ext cx="713232" cy="475488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3785615"/>
            <a:ext cx="713232" cy="475488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657600"/>
            <a:ext cx="461772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边算边传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4005072"/>
            <a:ext cx="461772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卡在算这一块时，下一块已经在路上。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1298448"/>
            <a:ext cx="5138928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93408" y="1389888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消融    相对加速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1664208"/>
            <a:ext cx="4846320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单独开启约 1.0×，写的是量级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31152" y="3339655"/>
            <a:ext cx="804672" cy="976312"/>
          </a:xfrm>
          <a:prstGeom prst="rect">
            <a:avLst/>
          </a:prstGeom>
          <a:solidFill>
            <a:srgbClr val="5E7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39712" y="3083623"/>
            <a:ext cx="987552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≈1.0×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4352544"/>
            <a:ext cx="1024128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都不开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1856" y="3339655"/>
            <a:ext cx="804672" cy="976312"/>
          </a:xfrm>
          <a:prstGeom prst="rect">
            <a:avLst/>
          </a:prstGeom>
          <a:solidFill>
            <a:srgbClr val="7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00416" y="3083623"/>
            <a:ext cx="987552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≈1.0×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4352544"/>
            <a:ext cx="1024128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只开 M1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3339655"/>
            <a:ext cx="804672" cy="976312"/>
          </a:xfrm>
          <a:prstGeom prst="rect">
            <a:avLst/>
          </a:prstGeom>
          <a:solidFill>
            <a:srgbClr val="7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0" y="3083623"/>
            <a:ext cx="987552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≈1.0×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2" y="4352544"/>
            <a:ext cx="1024128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只开 M3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13264" y="2441448"/>
            <a:ext cx="804672" cy="18745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21824" y="2185415"/>
            <a:ext cx="987552" cy="23774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1.92×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03536" y="4352544"/>
            <a:ext cx="1024128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一起开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809744"/>
            <a:ext cx="11201400" cy="1298448"/>
          </a:xfrm>
          <a:prstGeom prst="roundRect">
            <a:avLst>
              <a:gd name="adj" fmla="val 8000"/>
            </a:avLst>
          </a:prstGeom>
          <a:solidFill>
            <a:srgbClr val="FBF3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3232" y="4901184"/>
            <a:ext cx="10789920" cy="1115568"/>
          </a:xfrm>
          <a:prstGeom prst="rect">
            <a:avLst/>
          </a:prstGeom>
          <a:noFill/>
        </p:spPr>
        <p:txBody>
          <a:bodyPr wrap="square" lIns="54864" tIns="36576" rIns="54864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一个有意思的发现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zh-CN" altLang="en-US" sz="20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M1、M3 单独开都几乎没用。两个一起开，才到 1.92×。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只有传输不再堵死，计算才有空隙可以重叠。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实验设置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07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两套 3090，用来检查结论换不换得了平台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99616"/>
            <a:ext cx="502920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主实验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792224"/>
            <a:ext cx="502920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实验室集群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95728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2395728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 × RTX 3090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926080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39" y="2926080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PCIe 4，无 P2P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456432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卡间带宽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39" y="3456432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约 11 GB/s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53312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1499616"/>
            <a:ext cx="502920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换平台复核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1792224"/>
            <a:ext cx="502920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vast.ai 租用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95728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机器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2395728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4 × RTX 3090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2926080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链路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2926080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PCIe 3，无 P2P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3456432"/>
            <a:ext cx="155448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卡间带宽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3456432"/>
            <a:ext cx="3291840" cy="420624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5.95 GB/s，大约一半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25696"/>
            <a:ext cx="5532120" cy="16916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572000"/>
            <a:ext cx="512064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两类负载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937760"/>
            <a:ext cx="512064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合成任务流：偏斜和突发可以控。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376672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LLM decode 请求流：迁移的是真实 KV。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425696"/>
            <a:ext cx="5422392" cy="16916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73952" y="4572000"/>
            <a:ext cx="502920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统计纪律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4937760"/>
            <a:ext cx="5029200" cy="38404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每组跑 5 到 7 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5376672"/>
            <a:ext cx="5029200" cy="45720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报告均值 ± 标准差，不拿单次跑当结论。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63" y="45720"/>
            <a:ext cx="11823192" cy="6492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7772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 err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</a:t>
            </a:r>
            <a:r>
              <a:rPr sz="4000" b="1" dirty="0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 1  </a:t>
            </a:r>
            <a:r>
              <a:rPr lang="zh-CN" altLang="en-US" sz="4000" b="1" dirty="0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偏斜检测</a:t>
            </a:r>
            <a:endParaRPr sz="4000" b="1" dirty="0">
              <a:solidFill>
                <a:srgbClr val="0070C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08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12918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 err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是前缀缓存机制造成</a:t>
            </a:r>
            <a:r>
              <a:rPr lang="en-US" altLang="zh-CN" sz="2800" b="1" dirty="0" err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GPU</a:t>
            </a:r>
            <a:r>
              <a:rPr lang="zh-CN" altLang="en-US" sz="2800" b="1" dirty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任务负载分配的偏斜</a:t>
            </a:r>
            <a:endParaRPr sz="2800" b="1" dirty="0">
              <a:solidFill>
                <a:srgbClr val="1B283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178308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38528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1168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前缀缓存亲和性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108960" cy="7489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dirty="0" err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开头相同的请求会共用同一份前缀缓存</a:t>
            </a:r>
            <a:endParaRPr lang="en-US" sz="1400" dirty="0">
              <a:solidFill>
                <a:srgbClr val="1B2838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spcAft>
                <a:spcPts val="400"/>
              </a:spcAft>
            </a:pPr>
            <a:endParaRPr sz="1400" b="0" dirty="0">
              <a:solidFill>
                <a:srgbClr val="1B2838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spcAft>
                <a:spcPts val="400"/>
              </a:spcAft>
            </a:pPr>
            <a:r>
              <a:rPr sz="1400" b="0" dirty="0" err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要复用，就必须把它们放到同一张卡上</a:t>
            </a:r>
            <a:endParaRPr sz="1400" b="0" dirty="0">
              <a:solidFill>
                <a:srgbClr val="1B283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这是 vLLM / SGLang / Mooncake 都在用的路由规则。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5072" y="283464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78308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1938528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01168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前缀热度不均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60604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dirty="0" err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某个前缀被反复使用（例如同一段系统提示词</a:t>
            </a:r>
            <a:r>
              <a:rPr sz="1400" b="0" dirty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）。</a:t>
            </a:r>
          </a:p>
          <a:p>
            <a:pPr algn="l">
              <a:spcAft>
                <a:spcPts val="400"/>
              </a:spcAft>
            </a:pPr>
            <a:r>
              <a:rPr sz="1400" b="0" dirty="0" err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请求就持续涌向那一张卡</a:t>
            </a:r>
            <a:r>
              <a:rPr sz="1400" b="0" dirty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88620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热度由用户行为决定，调度器无法事先知道。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2" y="283464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78308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1938528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01168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负载集中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热卡堆积，冷卡空闲。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静态分配下，整组被最慢那张卡拖住。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88620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这就是 imb 1.38、加卡只涨 4% 的来源。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00600"/>
            <a:ext cx="112014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4956048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所以本文这样处理偏斜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32180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偏斜度是输入变量（扫描 imb 0 → 1.73），不是某个需要辩护的假设值。结论在整条曲线上成立，包括完全不偏斜的那一档。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最大加速 2.01× 只有理论上限 4.0× 的一半，差额是真实的 PCIe 传输开销 —— 说明这不是靠把基线做弱换来的数字。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09  /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把「任务集中到少数卡」的程度做成可调参数，扫 6 档、每档 5 次重复。偏斜度用不均衡度 imb 表示（0 = 完全均匀，1.73 = 全压一张卡）。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856232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最大加速（极端偏斜档</a:t>
            </a:r>
            <a:r>
              <a:rPr sz="1400" b="0" dirty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54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2.01×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08960"/>
            <a:ext cx="3154680" cy="320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6 </a:t>
            </a:r>
            <a:r>
              <a:rPr sz="1300" b="0" dirty="0" err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档全部</a:t>
            </a:r>
            <a:r>
              <a:rPr sz="1300" b="0" dirty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 &gt; 1，零偏斜时仍有 1.14×</a:t>
            </a:r>
          </a:p>
          <a:p>
            <a:pPr algn="l"/>
            <a:r>
              <a:rPr sz="1300" b="0" dirty="0" err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理论上限</a:t>
            </a:r>
            <a:r>
              <a:rPr sz="1300" b="0" dirty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 4.0×，</a:t>
            </a:r>
            <a:r>
              <a:rPr sz="1300" b="0" dirty="0" err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只拿到</a:t>
            </a:r>
            <a:r>
              <a:rPr sz="1300" b="0" dirty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 50%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9164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856232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Ferry 自身耗时的波动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194560"/>
            <a:ext cx="3154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±4%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108960"/>
            <a:ext cx="3154680" cy="320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172 – 186 ms，几乎不随偏斜变化</a:t>
            </a:r>
          </a:p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相关系数 r = −0.20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691640"/>
            <a:ext cx="3611880" cy="1874519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856232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静态分配耗时恶化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194560"/>
            <a:ext cx="3154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+70%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108960"/>
            <a:ext cx="3154680" cy="320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211 → 359 ms，随偏斜单调变差</a:t>
            </a:r>
          </a:p>
          <a:p>
            <a:pPr algn="l"/>
            <a:r>
              <a:rPr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相关系数 r = +1.00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12014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85876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完成时间 vs 偏斜度    ·    4 卡    ·    每档 5 次重复取均值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3895344"/>
            <a:ext cx="256032" cy="146304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69680" y="384048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静态分配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04120" y="3895344"/>
            <a:ext cx="256032" cy="1463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0" y="384048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Ferry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870448"/>
            <a:ext cx="10515599" cy="12801"/>
          </a:xfrm>
          <a:prstGeom prst="rect">
            <a:avLst/>
          </a:prstGeom>
          <a:solidFill>
            <a:srgbClr val="D3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60120" y="5474353"/>
            <a:ext cx="475488" cy="396094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499616" y="5641808"/>
            <a:ext cx="475488" cy="228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0392" y="5254897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212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9888" y="5422352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25312"/>
            <a:ext cx="14538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zh-CN" sz="1100" dirty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25 / 25 / 25 / 25</a:t>
            </a:r>
            <a:endParaRPr sz="1100" b="0" dirty="0">
              <a:solidFill>
                <a:srgbClr val="4E5D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697480" y="5245069"/>
            <a:ext cx="475488" cy="62537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36976" y="5717806"/>
            <a:ext cx="475488" cy="152641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587752" y="5025613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247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27248" y="549835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5925312"/>
            <a:ext cx="14538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zh-CN" sz="1100" dirty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44 / 19 / 19 / 19</a:t>
            </a:r>
            <a:endParaRPr sz="1100" b="0" dirty="0">
              <a:solidFill>
                <a:srgbClr val="4E5D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434840" y="4995176"/>
            <a:ext cx="475488" cy="875271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974336" y="5728111"/>
            <a:ext cx="475488" cy="14233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25112" y="477572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286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64607" y="5508655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172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5925312"/>
            <a:ext cx="14538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zh-CN" sz="1100" dirty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63 / 12 / 12 / 12</a:t>
            </a:r>
            <a:endParaRPr sz="1100" b="0" dirty="0">
              <a:solidFill>
                <a:srgbClr val="4E5D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172199" y="4675724"/>
            <a:ext cx="475488" cy="1194723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711696" y="5716518"/>
            <a:ext cx="475488" cy="15392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62471" y="4456268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336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1968" y="5497062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599" y="5925312"/>
            <a:ext cx="14538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zh-CN" sz="1100" dirty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81 / 6 / 6 / 6</a:t>
            </a:r>
            <a:endParaRPr sz="1100" b="0" dirty="0">
              <a:solidFill>
                <a:srgbClr val="4E5D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909560" y="4680233"/>
            <a:ext cx="475488" cy="1190214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449056" y="5670790"/>
            <a:ext cx="475488" cy="19965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99832" y="4460777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335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39327" y="545133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5925312"/>
            <a:ext cx="14538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zh-CN" sz="1100" dirty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89 / 4 / 4 / 4</a:t>
            </a:r>
            <a:endParaRPr sz="1100" b="0" dirty="0">
              <a:solidFill>
                <a:srgbClr val="4E5D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9646920" y="4522439"/>
            <a:ext cx="475488" cy="134800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0186416" y="5683027"/>
            <a:ext cx="475488" cy="1874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37192" y="4302983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359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76688" y="5463571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18320" y="5925312"/>
            <a:ext cx="14538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zh-CN" sz="1100" dirty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100 / 0 / 0 / 0</a:t>
            </a:r>
            <a:endParaRPr sz="1100" b="0" dirty="0">
              <a:solidFill>
                <a:srgbClr val="4E5D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85800" y="610819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琥珀柱一路升高、蓝柱基本持平 —— 偏斜越大静态分配越吃亏，Ferry 不受影响。C/A 与偏斜度相关系数 r = +0.98。</a:t>
            </a:r>
          </a:p>
        </p:txBody>
      </p:sp>
      <p:sp>
        <p:nvSpPr>
          <p:cNvPr id="59" name="TextBox 3">
            <a:extLst>
              <a:ext uri="{FF2B5EF4-FFF2-40B4-BE49-F238E27FC236}">
                <a16:creationId xmlns:a16="http://schemas.microsoft.com/office/drawing/2014/main" id="{5D39D149-E326-B335-CFBF-68940FF77EB1}"/>
              </a:ext>
            </a:extLst>
          </p:cNvPr>
          <p:cNvSpPr txBox="1"/>
          <p:nvPr/>
        </p:nvSpPr>
        <p:spPr>
          <a:xfrm>
            <a:off x="548640" y="365760"/>
            <a:ext cx="7772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 err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</a:t>
            </a:r>
            <a:r>
              <a:rPr sz="4000" b="1" dirty="0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 1  </a:t>
            </a:r>
            <a:r>
              <a:rPr lang="zh-CN" altLang="en-US" sz="4000" b="1" dirty="0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结果</a:t>
            </a:r>
            <a:endParaRPr sz="4000" b="1" dirty="0">
              <a:solidFill>
                <a:srgbClr val="0070C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 1 对齐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10  /  18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212574"/>
            <a:ext cx="11183112" cy="49139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6159D934-81B1-D9AA-EEF9-C6ECC886ADF0}"/>
              </a:ext>
            </a:extLst>
          </p:cNvPr>
          <p:cNvGraphicFramePr>
            <a:graphicFrameLocks noGrp="1"/>
          </p:cNvGraphicFramePr>
          <p:nvPr/>
        </p:nvGraphicFramePr>
        <p:xfrm>
          <a:off x="2306801" y="1406545"/>
          <a:ext cx="7406120" cy="4525964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851530">
                  <a:extLst>
                    <a:ext uri="{9D8B030D-6E8A-4147-A177-3AD203B41FA5}">
                      <a16:colId xmlns:a16="http://schemas.microsoft.com/office/drawing/2014/main" val="4144970766"/>
                    </a:ext>
                  </a:extLst>
                </a:gridCol>
                <a:gridCol w="1851530">
                  <a:extLst>
                    <a:ext uri="{9D8B030D-6E8A-4147-A177-3AD203B41FA5}">
                      <a16:colId xmlns:a16="http://schemas.microsoft.com/office/drawing/2014/main" val="757579414"/>
                    </a:ext>
                  </a:extLst>
                </a:gridCol>
                <a:gridCol w="1851530">
                  <a:extLst>
                    <a:ext uri="{9D8B030D-6E8A-4147-A177-3AD203B41FA5}">
                      <a16:colId xmlns:a16="http://schemas.microsoft.com/office/drawing/2014/main" val="2181103197"/>
                    </a:ext>
                  </a:extLst>
                </a:gridCol>
                <a:gridCol w="1851530">
                  <a:extLst>
                    <a:ext uri="{9D8B030D-6E8A-4147-A177-3AD203B41FA5}">
                      <a16:colId xmlns:a16="http://schemas.microsoft.com/office/drawing/2014/main" val="1136695781"/>
                    </a:ext>
                  </a:extLst>
                </a:gridCol>
              </a:tblGrid>
              <a:tr h="329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层面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真实 LLM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实验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是否等价</a:t>
                      </a:r>
                    </a:p>
                  </a:txBody>
                  <a:tcPr marL="82290" marR="82290" marT="41145" marB="41145" anchor="ctr"/>
                </a:tc>
                <a:extLst>
                  <a:ext uri="{0D108BD9-81ED-4DB2-BD59-A6C34878D82A}">
                    <a16:rowId xmlns:a16="http://schemas.microsoft.com/office/drawing/2014/main" val="870220164"/>
                  </a:ext>
                </a:extLst>
              </a:tr>
              <a:tr h="576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KV 值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Transformer 算出来的浮点数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随机数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❌ 不等价</a:t>
                      </a:r>
                    </a:p>
                  </a:txBody>
                  <a:tcPr marL="82290" marR="82290" marT="41145" marB="41145" anchor="ctr"/>
                </a:tc>
                <a:extLst>
                  <a:ext uri="{0D108BD9-81ED-4DB2-BD59-A6C34878D82A}">
                    <a16:rowId xmlns:a16="http://schemas.microsoft.com/office/drawing/2014/main" val="295670908"/>
                  </a:ext>
                </a:extLst>
              </a:tr>
              <a:tr h="10697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KV 布局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[batch, heads, seq, dim] 按 4 token 切块，16KB/块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同样的切法，16KB/块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✅ 等价</a:t>
                      </a:r>
                    </a:p>
                  </a:txBody>
                  <a:tcPr marL="82290" marR="82290" marT="41145" marB="41145" anchor="ctr"/>
                </a:tc>
                <a:extLst>
                  <a:ext uri="{0D108BD9-81ED-4DB2-BD59-A6C34878D82A}">
                    <a16:rowId xmlns:a16="http://schemas.microsoft.com/office/drawing/2014/main" val="2085709728"/>
                  </a:ext>
                </a:extLst>
              </a:tr>
              <a:tr h="8229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访问序列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每步根据 attention score 选哪些块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LRU 生成器按 66% 复用率生成选择序列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⚠️ 统计等价（不是逐步等价）</a:t>
                      </a:r>
                    </a:p>
                  </a:txBody>
                  <a:tcPr marL="82290" marR="82290" marT="41145" marB="41145" anchor="ctr"/>
                </a:tc>
                <a:extLst>
                  <a:ext uri="{0D108BD9-81ED-4DB2-BD59-A6C34878D82A}">
                    <a16:rowId xmlns:a16="http://schemas.microsoft.com/office/drawing/2014/main" val="2959860324"/>
                  </a:ext>
                </a:extLst>
              </a:tr>
              <a:tr h="576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miss 与回填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选中的块不在显卡 → 从 host 搬 16KB</a:t>
                      </a:r>
                    </a:p>
                  </a:txBody>
                  <a:tcPr marL="82290" marR="82290" marT="41145" marB="41145" anchor="ctr"/>
                </a:tc>
                <a:tc rowSpan="3"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600" dirty="0"/>
                        <a:t>完全一致</a:t>
                      </a:r>
                      <a:endParaRPr lang="zh-CN" sz="1600" dirty="0"/>
                    </a:p>
                  </a:txBody>
                  <a:tcPr marL="82290" marR="82290" marT="41145" marB="41145" anchor="ctr"/>
                </a:tc>
                <a:tc rowSpan="3" hMerge="1">
                  <a:txBody>
                    <a:bodyPr/>
                    <a:lstStyle/>
                    <a:p>
                      <a:pPr>
                        <a:buNone/>
                      </a:pPr>
                      <a:endParaRPr lang="zh-CN" sz="1600" dirty="0"/>
                    </a:p>
                  </a:txBody>
                  <a:tcPr marL="82290" marR="82290" marT="41145" marB="41145" anchor="ctr"/>
                </a:tc>
                <a:extLst>
                  <a:ext uri="{0D108BD9-81ED-4DB2-BD59-A6C34878D82A}">
                    <a16:rowId xmlns:a16="http://schemas.microsoft.com/office/drawing/2014/main" val="3653318999"/>
                  </a:ext>
                </a:extLst>
              </a:tr>
              <a:tr h="576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迁移成本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请求从卡 A 迁到卡 B → 搬 24MB 热集</a:t>
                      </a:r>
                    </a:p>
                  </a:txBody>
                  <a:tcPr marL="82290" marR="82290" marT="41145" marB="41145" anchor="ctr"/>
                </a:tc>
                <a:tc gridSpan="2" vMerge="1">
                  <a:txBody>
                    <a:bodyPr/>
                    <a:lstStyle/>
                    <a:p>
                      <a:pPr>
                        <a:buNone/>
                      </a:pPr>
                      <a:endParaRPr lang="zh-CN" sz="1600" dirty="0"/>
                    </a:p>
                  </a:txBody>
                  <a:tcPr marL="82290" marR="82290" marT="41145" marB="41145" anchor="ctr"/>
                </a:tc>
                <a:tc hMerge="1" vMerge="1">
                  <a:txBody>
                    <a:bodyPr/>
                    <a:lstStyle/>
                    <a:p>
                      <a:pPr>
                        <a:buNone/>
                      </a:pPr>
                      <a:endParaRPr lang="zh-CN" sz="1600" dirty="0"/>
                    </a:p>
                  </a:txBody>
                  <a:tcPr marL="82290" marR="82290" marT="41145" marB="41145" anchor="ctr"/>
                </a:tc>
                <a:extLst>
                  <a:ext uri="{0D108BD9-81ED-4DB2-BD59-A6C34878D82A}">
                    <a16:rowId xmlns:a16="http://schemas.microsoft.com/office/drawing/2014/main" val="1508022153"/>
                  </a:ext>
                </a:extLst>
              </a:tr>
              <a:tr h="576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被测指标</a:t>
                      </a:r>
                    </a:p>
                  </a:txBody>
                  <a:tcPr marL="82290" marR="82290" marT="41145" marB="4114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makespan、迁移字节、通信段数</a:t>
                      </a:r>
                    </a:p>
                  </a:txBody>
                  <a:tcPr marL="82290" marR="82290" marT="41145" marB="41145" anchor="ctr"/>
                </a:tc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 marL="82290" marR="82290" marT="41145" marB="41145" anchor="ctr"/>
                </a:tc>
                <a:tc hMerge="1"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82290" marR="82290" marT="41145" marB="41145" anchor="ctr"/>
                </a:tc>
                <a:extLst>
                  <a:ext uri="{0D108BD9-81ED-4DB2-BD59-A6C34878D82A}">
                    <a16:rowId xmlns:a16="http://schemas.microsoft.com/office/drawing/2014/main" val="11569146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 2  ·  主结果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11  / 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5074920" cy="1060704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08176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1.95×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408176"/>
            <a:ext cx="26060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比静态分配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755648"/>
            <a:ext cx="260604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偏斜档（imb 1.38）的数字。全偏斜范围 1.14 – 2.01×，见实验 1。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2468880"/>
            <a:ext cx="5074920" cy="1060704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578608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1.77×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578608"/>
            <a:ext cx="26060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比逐个任务窃取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926080"/>
            <a:ext cx="260604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一次偷一个，搬运次数太多，PCIe 被打散。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3639312"/>
            <a:ext cx="5074920" cy="1060704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39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约 100 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749039"/>
            <a:ext cx="26060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窃取次数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096512"/>
            <a:ext cx="260604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2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原先大约 2 万次。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1298448"/>
            <a:ext cx="5961888" cy="3511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97880" y="1408176"/>
            <a:ext cx="562356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相对耗时    Ferry = 1，越短越快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1700784"/>
            <a:ext cx="562356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4 卡偏斜这一档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2212848"/>
            <a:ext cx="132588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静态分配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2304288"/>
            <a:ext cx="3246120" cy="347472"/>
          </a:xfrm>
          <a:prstGeom prst="roundRect">
            <a:avLst>
              <a:gd name="adj" fmla="val 15000"/>
            </a:avLst>
          </a:prstGeom>
          <a:solidFill>
            <a:srgbClr val="5E7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88752" y="2212848"/>
            <a:ext cx="77724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2990088"/>
            <a:ext cx="132588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逐个窃取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3081528"/>
            <a:ext cx="2946478" cy="347472"/>
          </a:xfrm>
          <a:prstGeom prst="roundRect">
            <a:avLst>
              <a:gd name="adj" fmla="val 15000"/>
            </a:avLst>
          </a:prstGeom>
          <a:solidFill>
            <a:srgbClr val="7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289110" y="2990088"/>
            <a:ext cx="77724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3767328"/>
            <a:ext cx="132588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Ferry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80" y="3858768"/>
            <a:ext cx="1664676" cy="347472"/>
          </a:xfrm>
          <a:prstGeom prst="roundRect">
            <a:avLst>
              <a:gd name="adj" fmla="val 15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07308" y="3767328"/>
            <a:ext cx="777240" cy="5029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4864608"/>
            <a:ext cx="5532120" cy="1261872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" y="4974336"/>
            <a:ext cx="521208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从 1 卡扩到 4 卡，吞吐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85232"/>
            <a:ext cx="521208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Ferry  1.40×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632704"/>
            <a:ext cx="521208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静态分配只有  1.04×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4864608"/>
            <a:ext cx="5504688" cy="1261872"/>
          </a:xfrm>
          <a:prstGeom prst="roundRect">
            <a:avLst>
              <a:gd name="adj" fmla="val 8000"/>
            </a:avLst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80" y="4974336"/>
            <a:ext cx="516636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换一台机器，机制倍数几乎不变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5285232"/>
            <a:ext cx="516636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1.92×    与    1.93×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32704"/>
            <a:ext cx="51663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两台机器带宽差约 2 倍。结论不绑在一台硬件上。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12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加速主要来自流水化，不来自怎么偷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5568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把总加速拆开。主要功劳在执行引擎，不在窃取策略。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5074920" cy="260604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46634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D6E8F5"/>
                </a:solidFill>
                <a:latin typeface="微软雅黑"/>
                <a:ea typeface="微软雅黑"/>
                <a:cs typeface="微软雅黑"/>
              </a:rPr>
              <a:t>执行引擎  ·  流水化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466344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约 1.55×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466344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搬运和计算重叠之后，卡不用干等数据。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606040"/>
            <a:ext cx="822960" cy="82296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3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1783080"/>
            <a:ext cx="5074920" cy="2606040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12280" y="1965960"/>
            <a:ext cx="466344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批量窃取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377440"/>
            <a:ext cx="466344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约 1.13×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383280"/>
            <a:ext cx="466344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一次偷一批，而不是一次偷一个。它的价值条件于偏斜存在：零偏斜 0.99×，最大偏斜 1.12×。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17720"/>
            <a:ext cx="11183112" cy="1508760"/>
          </a:xfrm>
          <a:prstGeom prst="roundRect">
            <a:avLst>
              <a:gd name="adj" fmla="val 8000"/>
            </a:avLst>
          </a:prstGeom>
          <a:solidFill>
            <a:srgbClr val="FBF3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06984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对照，用来卡住卖点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经典的「偷一半」放进同一个引擎，效果和我的策略差不多。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32120"/>
            <a:ext cx="1069848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所以我不把窃取策略当核心卖点。引擎把路铺平之后，偷多少次是第二位的。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实验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13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代价模型不对，决策就没有用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35024"/>
            <a:ext cx="3611880" cy="3703320"/>
          </a:xfrm>
          <a:prstGeom prst="roundRect">
            <a:avLst>
              <a:gd name="adj" fmla="val 8000"/>
            </a:avLst>
          </a:prstGeom>
          <a:solidFill>
            <a:srgbClr val="FBF3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499616"/>
            <a:ext cx="324612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8A5A00"/>
                </a:solidFill>
                <a:latin typeface="微软雅黑"/>
                <a:ea typeface="微软雅黑"/>
                <a:cs typeface="微软雅黑"/>
              </a:rPr>
              <a:t>尝试，失败了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74519"/>
            <a:ext cx="3246120" cy="7772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成本感知的批大小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788920"/>
            <a:ext cx="3209544" cy="9601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按积压、在途数据、带宽，实时决定一次搬多少。记作 E。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794760"/>
            <a:ext cx="3209544" cy="10058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合成负载上没有收益。5 档参数，曲线全是平的。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335024"/>
            <a:ext cx="3611880" cy="37033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59" y="1499616"/>
            <a:ext cx="324612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1874519"/>
            <a:ext cx="3246120" cy="7772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那里根本没得优化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788920"/>
            <a:ext cx="3209544" cy="9601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这个负载窃取时只搬任务编号，不搬数据。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794760"/>
            <a:ext cx="3209544" cy="10058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总传输量是恒定的。决策没有可优化的对象。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335024"/>
            <a:ext cx="3611880" cy="3703320"/>
          </a:xfrm>
          <a:prstGeom prst="roundRect">
            <a:avLst>
              <a:gd name="adj" fmla="val 8000"/>
            </a:avLst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2" y="1499616"/>
            <a:ext cx="324612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1B7A4D"/>
                </a:solidFill>
                <a:latin typeface="微软雅黑"/>
                <a:ea typeface="微软雅黑"/>
                <a:cs typeface="微软雅黑"/>
              </a:rPr>
              <a:t>后来救回来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1874519"/>
            <a:ext cx="3246120" cy="7772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改成真实的请求迁移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3209544" cy="9601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偷请求时，连它的热 KV 一起搬过去。代价变成了真的。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3794760"/>
            <a:ext cx="3209544" cy="10058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5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迁移数据量减少 31% 到 92%。均衡更好，吞吐不降。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1208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35640" cy="91440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收获    决策有没有价值，取决于它的代价模型是否反映了真实代价。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0040" cy="6455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实验 5  ·  外部基线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</a:rPr>
              <a:t>14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B2838"/>
                </a:solidFill>
                <a:latin typeface="微软雅黑"/>
              </a:rPr>
              <a:t>先和别人的做法比：我原来的策略输了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5532120" cy="1828800"/>
          </a:xfrm>
          <a:prstGeom prst="roundRect">
            <a:avLst>
              <a:gd name="adj" fmla="val 6000"/>
            </a:avLst>
          </a:prstGeom>
          <a:solidFill>
            <a:srgbClr val="E7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44475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拿来比的两个外部做法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10512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Llumnix 的策略：挑最空的卡派活，再周期性全局重排。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32304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轮转派活：一张一张轮着发，中途完全不调整。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04688" cy="182880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44475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8A5A00"/>
                </a:solidFill>
                <a:latin typeface="微软雅黑"/>
              </a:rPr>
              <a:t>结果不好看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10512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B2838"/>
                </a:solidFill>
                <a:latin typeface="微软雅黑"/>
              </a:rPr>
              <a:t>1.17×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1865376"/>
            <a:ext cx="29260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最笨的轮转派活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反而最快，而且一次都没搬过数据。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B2838"/>
                </a:solidFill>
                <a:latin typeface="微软雅黑"/>
              </a:rPr>
              <a:t>Llumnix 的策略也没赢过它。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310128"/>
            <a:ext cx="11201400" cy="1481328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456432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为什么会这样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803904"/>
            <a:ext cx="107899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B2838"/>
                </a:solidFill>
                <a:latin typeface="微软雅黑"/>
              </a:rPr>
              <a:t>我原来的测法里，一个请求放在哪张卡上，要补的数据量都一样。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B2838"/>
                </a:solidFill>
                <a:latin typeface="微软雅黑"/>
              </a:rPr>
              <a:t>既然放哪都一样，那“把请求搬到对的卡上”就没有任何好处，只剩搬运的开销。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4974336"/>
            <a:ext cx="11201400" cy="118872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5138928"/>
            <a:ext cx="107442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D6E8F5"/>
                </a:solidFill>
                <a:latin typeface="微软雅黑"/>
              </a:rPr>
              <a:t>这是个坏消息，但它指出了缺的东西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04688"/>
            <a:ext cx="10744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我必须把“请求和卡的绑定为什么有价值”这件事真正建进模型里，否则整套搬运机制都立不住。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0040" cy="6455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实验 6  ·  关键修正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</a:rPr>
              <a:t>15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B2838"/>
                </a:solidFill>
                <a:latin typeface="微软雅黑"/>
              </a:rPr>
              <a:t>把前缀缓存建进去，结论反过来了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E7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426464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补上的那件事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73936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B2838"/>
                </a:solidFill>
                <a:latin typeface="微软雅黑"/>
              </a:rPr>
              <a:t>现实里，开头相同的请求会共用同一份前缀缓存。谁和谁放一张卡上，要补的数据量就不一样了。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B2838"/>
                </a:solidFill>
                <a:latin typeface="微软雅黑"/>
              </a:rPr>
              <a:t>我把这层做进了负载和缓存模型：同前缀的请求成组，共享归属卡和缓存。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2798064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E8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" y="294436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我的策略 vs 轮转派活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91840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B2838"/>
                </a:solidFill>
                <a:latin typeface="微软雅黑"/>
              </a:rPr>
              <a:t>0.75×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187952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原来是 1.17×，现在反过来，快 25%。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28 次里 27 次都赢。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798064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59" y="294436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要补的数据量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291840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B2838"/>
                </a:solidFill>
                <a:latin typeface="微软雅黑"/>
              </a:rPr>
              <a:t>少 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187952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遵守绑定：约 670 MB。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无视绑定：1257 MB。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2798064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294436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8A5A00"/>
                </a:solidFill>
                <a:latin typeface="微软雅黑"/>
              </a:rPr>
              <a:t>搬运方式本身的影响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291840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B2838"/>
                </a:solidFill>
                <a:latin typeface="微软雅黑"/>
              </a:rPr>
              <a:t>1.47×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187952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逐条搬 vs 成批搬。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实现方式不对，收益会被吃光。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5266944"/>
            <a:ext cx="11201400" cy="91440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5413248"/>
            <a:ext cx="10744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搬运到底值不值，取决于负载有没有局部性。没有局部性时不该搬；有局部性时，搬运能省掉一半的补数据。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0040" cy="64556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70C0"/>
                </a:solidFill>
                <a:latin typeface="微软雅黑"/>
              </a:rPr>
              <a:t>实验 7  ·  自查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4E5D6C"/>
                </a:solidFill>
                <a:latin typeface="微软雅黑"/>
              </a:rPr>
              <a:t>16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B2838"/>
                </a:solidFill>
                <a:latin typeface="微软雅黑"/>
              </a:rPr>
              <a:t>我把自己之前的一个结论推翻了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98448"/>
            <a:ext cx="5532120" cy="2212848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44475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8A5A00"/>
                </a:solidFill>
                <a:latin typeface="微软雅黑"/>
              </a:rPr>
              <a:t>之前报过的结果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只搬“正在用的那部分”数据时，我的代价感知策略快 22% 到 36%。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50592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我当时就记下了一个疑点：这条路我写得很笨，是一小块一小块单独搬的，特别慢。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04688" cy="2212848"/>
          </a:xfrm>
          <a:prstGeom prst="roundRect">
            <a:avLst>
              <a:gd name="adj" fmla="val 6000"/>
            </a:avLst>
          </a:prstGeom>
          <a:solidFill>
            <a:srgbClr val="E7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44475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查下去发现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92224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改成成批搬之后，同样 24 MB 从 9.5 毫秒降到 1.5 毫秒，快 6.8 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50592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B2838"/>
                </a:solidFill>
                <a:latin typeface="微软雅黑"/>
              </a:rPr>
              <a:t>原来那个“快 22% 到 36%”，是因为我的策略少搬了 65%，少踩了这个坑而已——不是决策本身更聪明。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3694176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840480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重跑 112 次之后的结论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187952"/>
            <a:ext cx="50292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坑填平了，优势就没了：和基础版本打平（0.99）。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旧结论作废，我在文稿里标了作废。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694176"/>
            <a:ext cx="5504688" cy="1481328"/>
          </a:xfrm>
          <a:prstGeom prst="roundRect">
            <a:avLst>
              <a:gd name="adj" fmla="val 6000"/>
            </a:avLst>
          </a:prstGeom>
          <a:solidFill>
            <a:srgbClr val="E8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3840480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微软雅黑"/>
              </a:rPr>
              <a:t>但换来两个真结果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187952"/>
            <a:ext cx="50292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一、只搬正在用的部分，现在是最快的配置（省 55% 搬运量）。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B2838"/>
                </a:solidFill>
                <a:latin typeface="微软雅黑"/>
              </a:rPr>
              <a:t>二、代价感知的真价值：同样快，但少搬 65%。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5358384"/>
            <a:ext cx="11201400" cy="82296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5486400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我宁愿自己先把它推翻，也不想等审稿人问“你是不是把对照组写差了”。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65760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17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76656"/>
            <a:ext cx="11155680" cy="47548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2838"/>
                </a:solidFill>
                <a:latin typeface="微软雅黑"/>
              </a:rPr>
              <a:t>闭环已经立住，剩下的是加强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35024"/>
            <a:ext cx="5212080" cy="409651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499616"/>
            <a:ext cx="4754880" cy="34747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已经做完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066544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048256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11680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问题本身验证过：静态分配加卡几乎白加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2542032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523744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487168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三个机制，以及 M1 和 M3 必须一起开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017520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2999232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962656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4 卡上的主结果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493008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3474720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38144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换一台带宽差一倍的机器，倍数还在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" y="3968496"/>
            <a:ext cx="256032" cy="256032"/>
          </a:xfrm>
          <a:prstGeom prst="ellipse">
            <a:avLst/>
          </a:prstGeom>
          <a:solidFill>
            <a:srgbClr val="1B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3950208"/>
            <a:ext cx="256032" cy="274320"/>
          </a:xfrm>
          <a:prstGeom prst="rect">
            <a:avLst/>
          </a:prstGeom>
          <a:noFill/>
        </p:spPr>
        <p:txBody>
          <a:bodyPr wrap="square" lIns="0" tIns="18288" rIns="0" bIns="18288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13632"/>
            <a:ext cx="4297680" cy="438912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LLM 请求迁移这条链路走通了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0448" y="1335024"/>
            <a:ext cx="5806440" cy="128016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1591056"/>
            <a:ext cx="502920" cy="7315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481328"/>
            <a:ext cx="47548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D6E8F5"/>
                </a:solidFill>
                <a:latin typeface="微软雅黑"/>
                <a:ea typeface="微软雅黑"/>
                <a:cs typeface="微软雅黑"/>
              </a:rPr>
              <a:t>已补上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810512"/>
            <a:ext cx="475488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已完成。确认了代价感知的真价值是“同样快、少搬 65%”，</a:t>
            </a:r>
          </a:p>
          <a:p>
            <a:r>
              <a:rPr sz="1500" b="1">
                <a:solidFill>
                  <a:srgbClr val="FFFFFF"/>
                </a:solidFill>
                <a:latin typeface="微软雅黑"/>
              </a:rPr>
              <a:t>旧的吞吐收益结论已作废。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70448" y="2724912"/>
            <a:ext cx="5806440" cy="1280160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980944"/>
            <a:ext cx="502920" cy="7315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871216"/>
            <a:ext cx="47548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70C0"/>
                </a:solidFill>
                <a:latin typeface="微软雅黑"/>
              </a:rPr>
              <a:t>已完成。前缀缓存亲和性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200400"/>
            <a:ext cx="475488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838"/>
                </a:solidFill>
                <a:latin typeface="微软雅黑"/>
              </a:rPr>
              <a:t>请求和卡的绑定有了来源，也让搬运第一次有了正收益。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70448" y="4114800"/>
            <a:ext cx="5806440" cy="1280160"/>
          </a:xfrm>
          <a:prstGeom prst="roundRect">
            <a:avLst>
              <a:gd name="adj" fmla="val 8000"/>
            </a:avLst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4370832"/>
            <a:ext cx="502920" cy="731520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261104"/>
            <a:ext cx="47548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还要做：去更窄的链路验证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4590288"/>
            <a:ext cx="475488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838"/>
                </a:solidFill>
                <a:latin typeface="微软雅黑"/>
              </a:rPr>
              <a:t>预测：链路越窄，少搬数据越值钱。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63270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8368" y="5632704"/>
            <a:ext cx="10881360" cy="56692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投稿目标     ICDCS</a:t>
            </a:r>
          </a:p>
        </p:txBody>
      </p:sp>
      <p:sp>
        <p:nvSpPr>
          <p:cNvPr id="38" name="Oval 37"/>
          <p:cNvSpPr/>
          <p:nvPr/>
        </p:nvSpPr>
        <p:spPr>
          <a:xfrm>
            <a:off x="749808" y="4443984"/>
            <a:ext cx="256032" cy="25603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9808" y="4425696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4389120"/>
            <a:ext cx="42976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外部基线比过了：轮转派活、Llumnix 的策略</a:t>
            </a:r>
          </a:p>
        </p:txBody>
      </p:sp>
      <p:sp>
        <p:nvSpPr>
          <p:cNvPr id="41" name="Oval 40"/>
          <p:cNvSpPr/>
          <p:nvPr/>
        </p:nvSpPr>
        <p:spPr>
          <a:xfrm>
            <a:off x="749808" y="4919472"/>
            <a:ext cx="256032" cy="25603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9808" y="4901184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4864608"/>
            <a:ext cx="42976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B2838"/>
                </a:solidFill>
                <a:latin typeface="微软雅黑"/>
              </a:rPr>
              <a:t>自查推翻过自己一条结论，并重跑 112 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19456" y="201168"/>
            <a:ext cx="11752783" cy="64556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365760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384048"/>
            <a:ext cx="2240280" cy="292608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zh-CN" altLang="en-US" sz="13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18  /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1325880"/>
          </a:xfrm>
          <a:prstGeom prst="rect">
            <a:avLst/>
          </a:prstGeom>
          <a:noFill/>
        </p:spPr>
        <p:txBody>
          <a:bodyPr wrap="square" lIns="54864" tIns="36576" rIns="54864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在没有卡间直连的消费级多卡上，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lang="zh-CN" altLang="en-US" sz="2800" b="1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我把 LLM decode 的负载均衡做成了一个流水化的运行时。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320040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近 2×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840480"/>
            <a:ext cx="320040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4 卡比静态分配快近 2 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3246120"/>
            <a:ext cx="320040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局部性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840480"/>
            <a:ext cx="320040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负载有局部性时，搬运才值得；没有时不该搬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31089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39" y="3246120"/>
            <a:ext cx="320040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600" b="1">
                <a:solidFill>
                  <a:srgbClr val="0070C0"/>
                </a:solidFill>
                <a:latin typeface="微软雅黑"/>
                <a:ea typeface="微软雅黑"/>
                <a:cs typeface="微软雅黑"/>
              </a:rPr>
              <a:t>诚实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840480"/>
            <a:ext cx="320040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1B2838"/>
                </a:solidFill>
                <a:latin typeface="微软雅黑"/>
                <a:ea typeface="微软雅黑"/>
                <a:cs typeface="微软雅黑"/>
              </a:rPr>
              <a:t>自己推翻过一条结论，重跑 112 次改正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74920"/>
            <a:ext cx="10972800" cy="5486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>
                <a:solidFill>
                  <a:srgbClr val="0A4E86"/>
                </a:solidFill>
                <a:latin typeface="微软雅黑"/>
                <a:ea typeface="微软雅黑"/>
                <a:cs typeface="微软雅黑"/>
              </a:rPr>
              <a:t>谢谢老师。请批评。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>
                <a:solidFill>
                  <a:srgbClr val="4E5D6C"/>
                </a:solidFill>
                <a:latin typeface="微软雅黑"/>
                <a:ea typeface="微软雅黑"/>
                <a:cs typeface="微软雅黑"/>
              </a:rPr>
              <a:t>github.com/clearleo126/ferry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3487</Words>
  <Application>Microsoft Office PowerPoint</Application>
  <PresentationFormat>宽屏</PresentationFormat>
  <Paragraphs>372</Paragraphs>
  <Slides>17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Ferry：面向 LLM 稀疏注意力 decode 的多 GPU 运行时</dc:title>
  <dc:subject>导师组会汇报</dc:subject>
  <dc:creator/>
  <cp:keywords/>
  <dc:description>generated using python-pptx</dc:description>
  <cp:lastModifiedBy>志轩 张</cp:lastModifiedBy>
  <cp:revision>7</cp:revision>
  <dcterms:created xsi:type="dcterms:W3CDTF">2013-01-27T09:14:16Z</dcterms:created>
  <dcterms:modified xsi:type="dcterms:W3CDTF">2026-10-05T11:24:14Z</dcterms:modified>
  <cp:category>组会</cp:category>
</cp:coreProperties>
</file>