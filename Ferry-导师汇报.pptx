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9"/>
    <p:sldId id="269" r:id="rId20"/>
    <p:sldId id="270" r:id="rId2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5" d="100"/>
          <a:sy n="115" d="100"/>
        </p:scale>
        <p:origin x="51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4.xml"/><Relationship Id="rId13" Type="http://schemas.openxmlformats.org/officeDocument/2006/relationships/slide" Target="slides/slide15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8556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老师好。这项工作叫</a:t>
            </a:r>
            <a:r>
              <a:rPr dirty="0"/>
              <a:t> </a:t>
            </a:r>
            <a:r>
              <a:rPr dirty="0" err="1"/>
              <a:t>Ferry。一句话先放在这里：KV</a:t>
            </a:r>
            <a:r>
              <a:rPr dirty="0"/>
              <a:t> cache </a:t>
            </a:r>
            <a:r>
              <a:rPr dirty="0" err="1"/>
              <a:t>放在主机内存里，多张卡一起做</a:t>
            </a:r>
            <a:r>
              <a:rPr dirty="0"/>
              <a:t> decode。卡和卡忙闲不均的时候，怎么分活、怎么搬数据最划算。今天大约二十分钟，按问题、别人做到哪、我的做法、实验、下一步来讲。代码在 github.com/clearleo126/</a:t>
            </a:r>
            <a:r>
              <a:rPr dirty="0" err="1"/>
              <a:t>ferry，投稿目标是</a:t>
            </a:r>
            <a:r>
              <a:rPr dirty="0"/>
              <a:t> ICDCS。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先讲问题从哪来，就三件事。第一，decode 的 KV 太大，卡放不下。完整 KV 放主机内存，卡上只留热的，缺了走 PCIe 回填。第二，多卡是把请求分到各张卡，但请求长短和到达不均匀，就会有的卡忙死、有的卡闲着。第三，3090 没有卡间直连，卡和卡搬数据必须经过主机内存。这条路又慢，还和回填抢同一条 PCIe。后面所有设计都是在躲这条窄路。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相关工作我只对三篇，每篇一句。Shetty 管的是一张卡内部的任务队列。HiSparse 是在单卡上把稀疏注意力的 KV 分层放在主机和显卡。Llumnix 会在实例之间迁请求做均衡，但它迁走的数据源端已经不用了，可以慢慢拷。我要迁的数据是对方马上要用的，只能和回填挤同一条通道。所以定位是：单卡前人做了；多卡、没有直连、迁移数据马上要用，这个组合还没人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Ferry 的做法不复杂，三步。每张卡一个本地队列，先做自己的活。哪张卡空了，就从当前最忙的卡一次偷一批，不是一个一个偷。搬数据仍然要经过主机内存，因为没有直连；所以把搬运和计算做成流水线，卡上不用干等。右图里 GPU 0 队列空了，GPU 3 最忙，偷的是一批，数据从主机内存中转过去。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三个机制用大白话讲。M1：去和回两个方向用独立的流同时传，不再一来一回。M2：一次搬多少，按 PCIe 的带宽饱和点来定。M3：边算边传。我想单独停在这个发现上：M1 或 M3 单独开，几乎都是 1 倍；两个一起开是 1.92 倍。原因是只有传输不再堵死，计算才有空隙去重叠。柱子上的约 1.0 倍是量级，不是我测到了恰好 1.00。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实验在两套机器上做，都是 4 张 3090，都没有 P2P。实验室是 PCIe 4，卡间大约 11 GB/s，主数字在这里出。vast.ai 是 PCIe 3，带宽大约一半，5.95 GB/s，用来看结论换一台机器还成不成立。负载有两类：合成任务流，偏斜和突发可以控；还有真实的 LLM decode 请求，迁移的是 KV。每组 5 到 7 次，报均值和标准差。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这一页只证明问题存在。静态把请求平均分下去，4 卡的不均衡度到 1.38。从 1 张卡加到 4 张卡，吞吐只涨了 4%。也就是加卡几乎白加，因为整组的完成时间被最慢的那张卡卡住了。下面的柱子是示意图，用来让老师看见「有一张卡明显更晚结束」。我没有在大纲里写每张卡的原始完成时间，所以柱上不标毫秒。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主结果看 4 卡偏斜。Ferry 比静态分配快 1.95 倍，比一个一个偷快 1.77 倍。窃取次数从大约 2 万次降到大约 100 次。从 1 卡扩到 4 卡，Ferry 的吞吐是 1.40 倍，静态分配只有 1.04 倍，和上一页的加 4% 是同一件事。两套机器带宽差大约 2 倍，机制倍数是 1.92 和 1.93，基本不变，所以这个结论不依赖实验室这一台机器。右边的柱子是用这些倍数换算的相对耗时，Ferry 记为 1。四种到达场景的原始 makespan 表大纲里没写，我没有补造。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这一页是把功劳讲诚实。总加速拆开，流水化的执行引擎大约 1.55 倍，批量窃取大约 1.13 倍。主要功劳在引擎，不在怎么偷。我还做了对照：把经典的偷一半放进同一个引擎，效果和我自己的策略差不多。所以窃取策略我不当核心卖点。老师如果问新颖性在哪，答案是这条流水化的运行时，以及它在无 P2P 上怎么和回填共处，不是一个新的偷法。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这一页讲一次失败，我觉得比报喜更要紧。我做过一个成本感知的批大小，按积压、在途和带宽实时调，记作 E。合成负载上五档参数全是平的，没有收益。原因是那个负载只搬任务编号，不搬数据，总传输量是恒定的，决策没有对象。后来改成真实的 LLM 请求迁移，偷请求时把热 KV 一起搬走，E 才生效：迁移数据量少了 31% 到 92%，均衡更好，吞吐不降。我从这里得到的句子是：决策有没有用，取决于代价模型写的是不是真实代价。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现状分两列。已经做完的是：问题验证、三个机制、4 卡主结果、跨平台，以及 LLM 请求迁移这条闭环。还差三件。第一，也是我接下来最先做的，排除实现开销的干扰，确认 E 的净收益，不要把实现上的固定开销算进决策的功劳。第二，讲清楚请求为什么一开始就绑在某张卡上，也就是前缀缓存的亲和性。第三，到带宽更窄的平台上看一个预测：带宽越窄，E 的收益应该越大。投稿目标是 ICDCS。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收成一句话。在没有卡间直连的消费级多卡上，我把 LLM decode 的负载均衡做成了一个流水化的运行时。4 卡比静态分配快近 2 倍。收益主要来自流水化引擎，不来自窃取策略本身。另外，决策只有在代价模型反映真实搬运代价时才有用。谢谢老师，请批评。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19456" y="201168"/>
            <a:ext cx="11752783" cy="64556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420624"/>
            <a:ext cx="841248" cy="787741"/>
          </a:xfrm>
          <a:prstGeom prst="rect">
            <a:avLst/>
          </a:prstGeom>
        </p:spPr>
      </p:pic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9616" y="530352"/>
            <a:ext cx="1691640" cy="66680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691640"/>
            <a:ext cx="10972800" cy="77724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6000" b="1" dirty="0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Ferry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87168"/>
            <a:ext cx="10972800" cy="4389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2600" b="1" dirty="0">
                <a:solidFill>
                  <a:srgbClr val="0A4E86"/>
                </a:solidFill>
                <a:latin typeface="微软雅黑"/>
                <a:ea typeface="微软雅黑"/>
                <a:cs typeface="微软雅黑"/>
              </a:rPr>
              <a:t>面向 LLM 稀疏注意力 decode 的多 GPU 运行时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3520440"/>
            <a:ext cx="9720072" cy="132588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417320" y="3657600"/>
            <a:ext cx="9372600" cy="1078992"/>
          </a:xfrm>
          <a:prstGeom prst="rect">
            <a:avLst/>
          </a:prstGeom>
          <a:noFill/>
        </p:spPr>
        <p:txBody>
          <a:bodyPr wrap="square" lIns="54864" tIns="36576" rIns="54864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KV cache 放在主机内存里，多张卡一起 decode。</a:t>
            </a:r>
          </a:p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CN" altLang="en-US" sz="1800" b="0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卡之间负载不均时，怎么分活、怎么搬数据最划算。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19456" y="201168"/>
            <a:ext cx="11752783" cy="64556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7772400" cy="29260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300" b="1">
                <a:solidFill>
                  <a:srgbClr val="0070C0"/>
                </a:solidFill>
                <a:latin typeface="微软雅黑"/>
                <a:ea typeface="微软雅黑"/>
                <a:cs typeface="微软雅黑"/>
              </a:rPr>
              <a:t>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365760"/>
            <a:ext cx="2240280" cy="29260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zh-CN" altLang="en-US" sz="1300" b="1">
                <a:solidFill>
                  <a:srgbClr val="4E5D6C"/>
                </a:solidFill>
                <a:latin typeface="微软雅黑"/>
                <a:ea typeface="微软雅黑"/>
                <a:cs typeface="微软雅黑"/>
              </a:rPr>
              <a:t>02  / 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76656"/>
            <a:ext cx="11155680" cy="47548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问题从哪来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53312"/>
            <a:ext cx="3611880" cy="2487168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463040"/>
            <a:ext cx="1097280" cy="29260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>
                <a:solidFill>
                  <a:srgbClr val="0070C0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55648"/>
            <a:ext cx="3246120" cy="34747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KV 放不下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2176272"/>
            <a:ext cx="3282696" cy="1508760"/>
          </a:xfrm>
          <a:prstGeom prst="rect">
            <a:avLst/>
          </a:prstGeom>
          <a:noFill/>
        </p:spPr>
        <p:txBody>
          <a:bodyPr wrap="square" lIns="54864" tIns="36576" rIns="54864" bIns="18288" anchor="t"/>
          <a:lstStyle/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zh-CN" altLang="en-US" sz="1400" b="0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decode 的 KV 太大，一张卡放不下。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zh-CN" altLang="en-US" sz="1400" b="0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完整 KV 留在主机内存。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zh-CN" altLang="en-US" sz="1400" b="0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显卡只留正在用的。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zh-CN" altLang="en-US" sz="1400" b="0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缺了，就经 PCIe 补回来。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9392" y="1353312"/>
            <a:ext cx="3611880" cy="2487168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62272" y="1463040"/>
            <a:ext cx="1097280" cy="29260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>
                <a:solidFill>
                  <a:srgbClr val="0070C0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2272" y="1755648"/>
            <a:ext cx="3246120" cy="34747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忙闲不均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5696" y="2176272"/>
            <a:ext cx="3282696" cy="1508760"/>
          </a:xfrm>
          <a:prstGeom prst="rect">
            <a:avLst/>
          </a:prstGeom>
          <a:noFill/>
        </p:spPr>
        <p:txBody>
          <a:bodyPr wrap="square" lIns="54864" tIns="36576" rIns="54864" bIns="18288" anchor="t"/>
          <a:lstStyle/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zh-CN" altLang="en-US" sz="1400" b="0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每张卡分到一部分请求。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zh-CN" altLang="en-US" sz="1400" b="0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请求有长有短，到达有早有晚。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zh-CN" altLang="en-US" sz="1400" b="0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于是有的卡忙死，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zh-CN" altLang="en-US" sz="1400" b="0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有的卡闲着。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353312"/>
            <a:ext cx="3611880" cy="2487168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38744" y="1463040"/>
            <a:ext cx="1097280" cy="29260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>
                <a:solidFill>
                  <a:srgbClr val="0070C0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8744" y="1755648"/>
            <a:ext cx="3246120" cy="34747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没有直连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2168" y="2176272"/>
            <a:ext cx="3282696" cy="1508760"/>
          </a:xfrm>
          <a:prstGeom prst="rect">
            <a:avLst/>
          </a:prstGeom>
          <a:noFill/>
        </p:spPr>
        <p:txBody>
          <a:bodyPr wrap="square" lIns="54864" tIns="36576" rIns="54864" bIns="18288" anchor="t"/>
          <a:lstStyle/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zh-CN" altLang="en-US" sz="1400" b="0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3090 这类卡不能直连。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zh-CN" altLang="en-US" sz="1400" b="0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卡间搬运要经主机内存。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zh-CN" altLang="en-US" sz="1400" b="0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这条路又慢，还和回填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zh-CN" altLang="en-US" sz="1400" b="0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抢同一条 PCIe。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023360"/>
            <a:ext cx="11183112" cy="23591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13232" y="4187952"/>
            <a:ext cx="10762488" cy="566928"/>
          </a:xfrm>
          <a:prstGeom prst="roundRect">
            <a:avLst>
              <a:gd name="adj" fmla="val 6000"/>
            </a:avLst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3232" y="4187952"/>
            <a:ext cx="10762488" cy="56692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主机内存    ·    完整 KV cache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4809744"/>
            <a:ext cx="10762488" cy="29260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300" b="1">
                <a:solidFill>
                  <a:srgbClr val="0A4E86"/>
                </a:solidFill>
                <a:latin typeface="微软雅黑"/>
                <a:ea typeface="微软雅黑"/>
                <a:cs typeface="微软雅黑"/>
              </a:rPr>
              <a:t>PCIe    回填和卡间搬运走的是同一条路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" y="5175504"/>
            <a:ext cx="2331720" cy="987552"/>
          </a:xfrm>
          <a:prstGeom prst="roundRect">
            <a:avLst>
              <a:gd name="adj" fmla="val 8000"/>
            </a:avLst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0120" y="5248656"/>
            <a:ext cx="2331720" cy="32918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500" b="1">
                <a:solidFill>
                  <a:srgbClr val="0A4E86"/>
                </a:solidFill>
                <a:latin typeface="微软雅黑"/>
                <a:ea typeface="微软雅黑"/>
                <a:cs typeface="微软雅黑"/>
              </a:rPr>
              <a:t>GPU 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5577840"/>
            <a:ext cx="2331720" cy="38404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300" b="0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只留热数据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84448" y="5175504"/>
            <a:ext cx="2331720" cy="987552"/>
          </a:xfrm>
          <a:prstGeom prst="roundRect">
            <a:avLst>
              <a:gd name="adj" fmla="val 8000"/>
            </a:avLst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584448" y="5248656"/>
            <a:ext cx="2331720" cy="32918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500" b="1">
                <a:solidFill>
                  <a:srgbClr val="0A4E86"/>
                </a:solidFill>
                <a:latin typeface="微软雅黑"/>
                <a:ea typeface="微软雅黑"/>
                <a:cs typeface="微软雅黑"/>
              </a:rPr>
              <a:t>GPU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84448" y="5577840"/>
            <a:ext cx="2331720" cy="38404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300" b="0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只留热数据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08775" y="5175504"/>
            <a:ext cx="2331720" cy="987552"/>
          </a:xfrm>
          <a:prstGeom prst="roundRect">
            <a:avLst>
              <a:gd name="adj" fmla="val 8000"/>
            </a:avLst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08775" y="5248656"/>
            <a:ext cx="2331720" cy="32918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500" b="1">
                <a:solidFill>
                  <a:srgbClr val="0A4E86"/>
                </a:solidFill>
                <a:latin typeface="微软雅黑"/>
                <a:ea typeface="微软雅黑"/>
                <a:cs typeface="微软雅黑"/>
              </a:rPr>
              <a:t>GPU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08775" y="5577840"/>
            <a:ext cx="2331720" cy="38404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300" b="0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只留热数据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833104" y="5175504"/>
            <a:ext cx="2331720" cy="987552"/>
          </a:xfrm>
          <a:prstGeom prst="roundRect">
            <a:avLst>
              <a:gd name="adj" fmla="val 8000"/>
            </a:avLst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833104" y="5248656"/>
            <a:ext cx="2331720" cy="32918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500" b="1">
                <a:solidFill>
                  <a:srgbClr val="0A4E86"/>
                </a:solidFill>
                <a:latin typeface="微软雅黑"/>
                <a:ea typeface="微软雅黑"/>
                <a:cs typeface="微软雅黑"/>
              </a:rPr>
              <a:t>GPU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33104" y="5577840"/>
            <a:ext cx="2331720" cy="38404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300" b="0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只留热数据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19456" y="201168"/>
            <a:ext cx="11752783" cy="64556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7772400" cy="29260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300" b="1">
                <a:solidFill>
                  <a:srgbClr val="0070C0"/>
                </a:solidFill>
                <a:latin typeface="微软雅黑"/>
                <a:ea typeface="微软雅黑"/>
                <a:cs typeface="微软雅黑"/>
              </a:rPr>
              <a:t>相关工作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365760"/>
            <a:ext cx="2240280" cy="29260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zh-CN" altLang="en-US" sz="1300" b="1">
                <a:solidFill>
                  <a:srgbClr val="4E5D6C"/>
                </a:solidFill>
                <a:latin typeface="微软雅黑"/>
                <a:ea typeface="微软雅黑"/>
                <a:cs typeface="微软雅黑"/>
              </a:rPr>
              <a:t>03  / 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76656"/>
            <a:ext cx="11155680" cy="47548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单卡有人做了，这个组合还没有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433271"/>
              </p:ext>
            </p:extLst>
          </p:nvPr>
        </p:nvGraphicFramePr>
        <p:xfrm>
          <a:off x="502920" y="1353312"/>
          <a:ext cx="11183112" cy="379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0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56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4869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工作</a:t>
                      </a:r>
                    </a:p>
                  </a:txBody>
                  <a:tcPr marL="109728" marT="54864" marB="54864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做了什么</a:t>
                      </a:r>
                    </a:p>
                  </a:txBody>
                  <a:tcPr marL="109728" marT="54864" marB="54864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和 Ferry 的差别</a:t>
                      </a:r>
                    </a:p>
                  </a:txBody>
                  <a:tcPr marL="109728" marT="54864" marB="54864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869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solidFill>
                            <a:srgbClr val="0A4E8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Shetty </a:t>
                      </a:r>
                      <a:br>
                        <a:rPr lang="en-US" altLang="zh-CN" sz="1400" b="1" dirty="0">
                          <a:solidFill>
                            <a:srgbClr val="0A4E86"/>
                          </a:solidFill>
                          <a:latin typeface="微软雅黑"/>
                          <a:ea typeface="微软雅黑"/>
                          <a:cs typeface="微软雅黑"/>
                        </a:rPr>
                      </a:br>
                      <a:r>
                        <a:rPr lang="en-US" altLang="zh-CN" sz="1400" b="1" dirty="0" err="1">
                          <a:solidFill>
                            <a:srgbClr val="0A4E8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arXiv</a:t>
                      </a:r>
                      <a:r>
                        <a:rPr lang="en-US" altLang="zh-CN" sz="1400" b="1" dirty="0">
                          <a:solidFill>
                            <a:srgbClr val="0A4E8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2026</a:t>
                      </a:r>
                      <a:endParaRPr lang="zh-CN" altLang="en-US" sz="1400" b="1" dirty="0">
                        <a:solidFill>
                          <a:srgbClr val="0A4E86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0">
                          <a:solidFill>
                            <a:srgbClr val="1B28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 GPU 的并发任务队列，可线性化，并保证进度。</a:t>
                      </a:r>
                    </a:p>
                  </a:txBody>
                  <a:tcPr marL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0">
                          <a:solidFill>
                            <a:srgbClr val="1B28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只管一张卡内部。我做多卡之间的调度。</a:t>
                      </a:r>
                    </a:p>
                  </a:txBody>
                  <a:tcPr marL="109728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869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>
                          <a:solidFill>
                            <a:srgbClr val="0A4E8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HiSparse
arXiv 2026</a:t>
                      </a:r>
                    </a:p>
                  </a:txBody>
                  <a:tcPr marL="109728" marT="54864" marB="54864" anchor="ctr"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0">
                          <a:solidFill>
                            <a:srgbClr val="1B28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单卡上，把稀疏注意力的 KV 分层放在主机和显卡。</a:t>
                      </a:r>
                    </a:p>
                  </a:txBody>
                  <a:tcPr marL="109728" marT="54864" marB="54864" anchor="ctr"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0">
                          <a:solidFill>
                            <a:srgbClr val="1B28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只管单卡。我把它扩到多卡，并处理卡和卡之间的失衡。</a:t>
                      </a:r>
                    </a:p>
                  </a:txBody>
                  <a:tcPr marL="109728" marT="54864" marB="54864" anchor="ctr"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869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>
                          <a:solidFill>
                            <a:srgbClr val="0A4E8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Llumnix
OSDI 2024</a:t>
                      </a:r>
                    </a:p>
                  </a:txBody>
                  <a:tcPr marL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0" dirty="0">
                          <a:solidFill>
                            <a:srgbClr val="1B28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在多个实例之间迁移请求，用来做负载均衡。</a:t>
                      </a:r>
                    </a:p>
                  </a:txBody>
                  <a:tcPr marL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0" dirty="0">
                          <a:solidFill>
                            <a:srgbClr val="1B28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它迁走的 KV，源端已经不用，可以后台慢慢拷。我要迁的数据对方马上要用，只能和回填挤同一条通道。</a:t>
                      </a:r>
                    </a:p>
                  </a:txBody>
                  <a:tcPr marL="109728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02920" y="5321808"/>
            <a:ext cx="11183112" cy="1024128"/>
          </a:xfrm>
          <a:prstGeom prst="roundRect">
            <a:avLst>
              <a:gd name="adj" fmla="val 8000"/>
            </a:avLst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5413248"/>
            <a:ext cx="10881360" cy="868680"/>
          </a:xfrm>
          <a:prstGeom prst="rect">
            <a:avLst/>
          </a:prstGeom>
          <a:noFill/>
        </p:spPr>
        <p:txBody>
          <a:bodyPr wrap="square" lIns="54864" tIns="36576" rIns="54864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300" b="1">
                <a:solidFill>
                  <a:srgbClr val="0070C0"/>
                </a:solidFill>
                <a:latin typeface="微软雅黑"/>
                <a:ea typeface="微软雅黑"/>
                <a:cs typeface="微软雅黑"/>
              </a:rPr>
              <a:t>一句话定位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lang="zh-CN" altLang="en-US" sz="1600" b="1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单卡的问题前人做了。多卡、无 P2P、迁移的数据马上要用，这个组合还没人做。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19456" y="201168"/>
            <a:ext cx="11752783" cy="64556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7772400" cy="29260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300" b="1">
                <a:solidFill>
                  <a:srgbClr val="0070C0"/>
                </a:solidFill>
                <a:latin typeface="微软雅黑"/>
                <a:ea typeface="微软雅黑"/>
                <a:cs typeface="微软雅黑"/>
              </a:rPr>
              <a:t>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365760"/>
            <a:ext cx="2240280" cy="29260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zh-CN" altLang="en-US" sz="1300" b="1">
                <a:solidFill>
                  <a:srgbClr val="4E5D6C"/>
                </a:solidFill>
                <a:latin typeface="微软雅黑"/>
                <a:ea typeface="微软雅黑"/>
                <a:cs typeface="微软雅黑"/>
              </a:rPr>
              <a:t>04  / 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76656"/>
            <a:ext cx="11155680" cy="47548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Ferry：本地优先，空了就成批去偷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335024"/>
            <a:ext cx="5806440" cy="1444752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76656" y="1773936"/>
            <a:ext cx="530352" cy="530352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6656" y="1773936"/>
            <a:ext cx="530352" cy="530352"/>
          </a:xfrm>
          <a:prstGeom prst="rect">
            <a:avLst/>
          </a:prstGeom>
          <a:noFill/>
        </p:spPr>
        <p:txBody>
          <a:bodyPr wrap="square" lIns="0" tIns="18288" rIns="0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499616"/>
            <a:ext cx="4663440" cy="36576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先做自己的活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1901952"/>
            <a:ext cx="4663440" cy="74980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400" b="0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每张卡一个本地任务队列。队列里还有自己的请求，就优先处理，不去碰别人。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" y="2907791"/>
            <a:ext cx="5806440" cy="1444752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76656" y="3346703"/>
            <a:ext cx="530352" cy="530352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6656" y="3346703"/>
            <a:ext cx="530352" cy="530352"/>
          </a:xfrm>
          <a:prstGeom prst="rect">
            <a:avLst/>
          </a:prstGeom>
          <a:noFill/>
        </p:spPr>
        <p:txBody>
          <a:bodyPr wrap="square" lIns="0" tIns="18288" rIns="0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3072384"/>
            <a:ext cx="4663440" cy="36576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空了，一次偷一批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3474720"/>
            <a:ext cx="4663440" cy="74980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400" b="0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某张卡队列空了，就从最忙的那张卡一次偷一批，不是一次偷一个。少偷很多次，少走很多次 PCIe。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" y="4480560"/>
            <a:ext cx="5806440" cy="1444752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76656" y="4919472"/>
            <a:ext cx="530352" cy="530352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6656" y="4919472"/>
            <a:ext cx="530352" cy="530352"/>
          </a:xfrm>
          <a:prstGeom prst="rect">
            <a:avLst/>
          </a:prstGeom>
          <a:noFill/>
        </p:spPr>
        <p:txBody>
          <a:bodyPr wrap="square" lIns="0" tIns="18288" rIns="0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4645152"/>
            <a:ext cx="4663440" cy="36576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搬数据和计算叠在一起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5047488"/>
            <a:ext cx="4663440" cy="74980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400" b="0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数据经主机内存中转的同时，卡上继续算。传输和计算做成流水线，不等搬运结束再开工。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73952" y="1335024"/>
            <a:ext cx="5212080" cy="47183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656832" y="1499616"/>
            <a:ext cx="4846320" cy="713232"/>
          </a:xfrm>
          <a:prstGeom prst="roundRect">
            <a:avLst>
              <a:gd name="adj" fmla="val 6000"/>
            </a:avLst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56832" y="1536192"/>
            <a:ext cx="4846320" cy="640080"/>
          </a:xfrm>
          <a:prstGeom prst="rect">
            <a:avLst/>
          </a:prstGeom>
          <a:noFill/>
        </p:spPr>
        <p:txBody>
          <a:bodyPr wrap="square" lIns="54864" tIns="36576" rIns="54864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主机内存</a:t>
            </a:r>
          </a:p>
          <a:p>
            <a:pPr algn="ctr">
              <a:spcBef>
                <a:spcPts val="100"/>
              </a:spcBef>
              <a:spcAft>
                <a:spcPts val="0"/>
              </a:spcAft>
            </a:pPr>
            <a:r>
              <a:rPr lang="zh-CN" altLang="en-US"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卡间数据只在这里中转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56832" y="2359152"/>
            <a:ext cx="4846320" cy="384048"/>
          </a:xfrm>
          <a:prstGeom prst="roundRect">
            <a:avLst>
              <a:gd name="adj" fmla="val 6000"/>
            </a:avLst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56832" y="2359152"/>
            <a:ext cx="4846320" cy="38404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200" b="1">
                <a:solidFill>
                  <a:srgbClr val="0A4E86"/>
                </a:solidFill>
                <a:latin typeface="微软雅黑"/>
                <a:ea typeface="微软雅黑"/>
                <a:cs typeface="微软雅黑"/>
              </a:rPr>
              <a:t>一次偷一批    ·    从最忙的卡搬到空卡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48272" y="2816352"/>
            <a:ext cx="1078992" cy="27432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200" b="1">
                <a:solidFill>
                  <a:srgbClr val="1B7A4D"/>
                </a:solidFill>
                <a:latin typeface="微软雅黑"/>
                <a:ea typeface="微软雅黑"/>
                <a:cs typeface="微软雅黑"/>
              </a:rPr>
              <a:t>GPU 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48272" y="4663440"/>
            <a:ext cx="1078992" cy="777240"/>
          </a:xfrm>
          <a:prstGeom prst="roundRect">
            <a:avLst>
              <a:gd name="adj" fmla="val 10000"/>
            </a:avLst>
          </a:prstGeom>
          <a:solidFill>
            <a:srgbClr val="E8F6EE"/>
          </a:solidFill>
          <a:ln w="12700">
            <a:solidFill>
              <a:srgbClr val="1B7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748272" y="4663440"/>
            <a:ext cx="1078992" cy="77724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200" b="1">
                <a:solidFill>
                  <a:srgbClr val="1B7A4D"/>
                </a:solidFill>
                <a:latin typeface="微软雅黑"/>
                <a:ea typeface="微软雅黑"/>
                <a:cs typeface="微软雅黑"/>
              </a:rPr>
              <a:t>队列空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11696" y="5504688"/>
            <a:ext cx="1152144" cy="36576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100" b="1">
                <a:solidFill>
                  <a:srgbClr val="1B7A4D"/>
                </a:solidFill>
                <a:latin typeface="微软雅黑"/>
                <a:ea typeface="微软雅黑"/>
                <a:cs typeface="微软雅黑"/>
              </a:rPr>
              <a:t>空了，去偷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36992" y="2816352"/>
            <a:ext cx="1078992" cy="27432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200" b="1">
                <a:solidFill>
                  <a:srgbClr val="0A4E86"/>
                </a:solidFill>
                <a:latin typeface="微软雅黑"/>
                <a:ea typeface="微软雅黑"/>
                <a:cs typeface="微软雅黑"/>
              </a:rPr>
              <a:t>GPU 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6719" y="5166360"/>
            <a:ext cx="859536" cy="25603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046719" y="4846320"/>
            <a:ext cx="859536" cy="25603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900416" y="5504688"/>
            <a:ext cx="1152144" cy="36576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100" b="1">
                <a:solidFill>
                  <a:srgbClr val="0A4E86"/>
                </a:solidFill>
                <a:latin typeface="微软雅黑"/>
                <a:ea typeface="微软雅黑"/>
                <a:cs typeface="微软雅黑"/>
              </a:rPr>
              <a:t>自己还有活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25712" y="2816352"/>
            <a:ext cx="1078992" cy="27432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200" b="1">
                <a:solidFill>
                  <a:srgbClr val="0A4E86"/>
                </a:solidFill>
                <a:latin typeface="微软雅黑"/>
                <a:ea typeface="微软雅黑"/>
                <a:cs typeface="微软雅黑"/>
              </a:rPr>
              <a:t>GPU 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235440" y="5166360"/>
            <a:ext cx="859536" cy="25603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235440" y="4846320"/>
            <a:ext cx="859536" cy="25603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235440" y="4526280"/>
            <a:ext cx="859536" cy="25603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089136" y="5504688"/>
            <a:ext cx="1152144" cy="36576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100" b="1">
                <a:solidFill>
                  <a:srgbClr val="0A4E86"/>
                </a:solidFill>
                <a:latin typeface="微软雅黑"/>
                <a:ea typeface="微软雅黑"/>
                <a:cs typeface="微软雅黑"/>
              </a:rPr>
              <a:t>自己还有活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14432" y="2816352"/>
            <a:ext cx="1078992" cy="27432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200" b="1">
                <a:solidFill>
                  <a:srgbClr val="8A5A00"/>
                </a:solidFill>
                <a:latin typeface="微软雅黑"/>
                <a:ea typeface="微软雅黑"/>
                <a:cs typeface="微软雅黑"/>
              </a:rPr>
              <a:t>GPU 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424159" y="5166360"/>
            <a:ext cx="859536" cy="256031"/>
          </a:xfrm>
          <a:prstGeom prst="rect">
            <a:avLst/>
          </a:prstGeom>
          <a:solidFill>
            <a:srgbClr val="8A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0424159" y="4846320"/>
            <a:ext cx="859536" cy="256031"/>
          </a:xfrm>
          <a:prstGeom prst="rect">
            <a:avLst/>
          </a:prstGeom>
          <a:solidFill>
            <a:srgbClr val="8A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10424159" y="4526280"/>
            <a:ext cx="859536" cy="256031"/>
          </a:xfrm>
          <a:prstGeom prst="rect">
            <a:avLst/>
          </a:prstGeom>
          <a:solidFill>
            <a:srgbClr val="8A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10424159" y="4206240"/>
            <a:ext cx="859536" cy="256031"/>
          </a:xfrm>
          <a:prstGeom prst="rect">
            <a:avLst/>
          </a:prstGeom>
          <a:solidFill>
            <a:srgbClr val="8A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10424159" y="3886200"/>
            <a:ext cx="859536" cy="256031"/>
          </a:xfrm>
          <a:prstGeom prst="rect">
            <a:avLst/>
          </a:prstGeom>
          <a:solidFill>
            <a:srgbClr val="8A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0424159" y="3566160"/>
            <a:ext cx="859536" cy="256031"/>
          </a:xfrm>
          <a:prstGeom prst="rect">
            <a:avLst/>
          </a:prstGeom>
          <a:solidFill>
            <a:srgbClr val="8A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277856" y="5504688"/>
            <a:ext cx="1152144" cy="36576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100" b="1">
                <a:solidFill>
                  <a:srgbClr val="8A5A00"/>
                </a:solidFill>
                <a:latin typeface="微软雅黑"/>
                <a:ea typeface="微软雅黑"/>
                <a:cs typeface="微软雅黑"/>
              </a:rPr>
              <a:t>最忙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19456" y="201168"/>
            <a:ext cx="11752783" cy="64556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7772400" cy="29260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300" b="1">
                <a:solidFill>
                  <a:srgbClr val="0070C0"/>
                </a:solidFill>
                <a:latin typeface="微软雅黑"/>
                <a:ea typeface="微软雅黑"/>
                <a:cs typeface="微软雅黑"/>
              </a:rPr>
              <a:t>机制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365760"/>
            <a:ext cx="2240280" cy="29260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zh-CN" altLang="en-US" sz="1300" b="1">
                <a:solidFill>
                  <a:srgbClr val="4E5D6C"/>
                </a:solidFill>
                <a:latin typeface="微软雅黑"/>
                <a:ea typeface="微软雅黑"/>
                <a:cs typeface="微软雅黑"/>
              </a:rPr>
              <a:t>05  / 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76656"/>
            <a:ext cx="11155680" cy="47548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三个机制，一起开才有用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298448"/>
            <a:ext cx="5897880" cy="100584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713232" cy="475488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713232" cy="475488"/>
          </a:xfrm>
          <a:prstGeom prst="rect">
            <a:avLst/>
          </a:prstGeom>
          <a:noFill/>
        </p:spPr>
        <p:txBody>
          <a:bodyPr wrap="square" lIns="0" tIns="18288" rIns="0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17904" y="1426464"/>
            <a:ext cx="4617720" cy="32918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双向同时传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7904" y="1773936"/>
            <a:ext cx="4617720" cy="42062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400" b="0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去和回各用一条流，同时传。不再一来一回。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" y="2414015"/>
            <a:ext cx="5897880" cy="100584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40080" y="2670048"/>
            <a:ext cx="713232" cy="475488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2670048"/>
            <a:ext cx="713232" cy="475488"/>
          </a:xfrm>
          <a:prstGeom prst="rect">
            <a:avLst/>
          </a:prstGeom>
          <a:noFill/>
        </p:spPr>
        <p:txBody>
          <a:bodyPr wrap="square" lIns="0" tIns="18288" rIns="0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2542032"/>
            <a:ext cx="4617720" cy="32918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批大小跟着饱和点走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17904" y="2889503"/>
            <a:ext cx="4617720" cy="42062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400" b="0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一次搬多少，按 PCIe 带宽的饱和点来定。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" y="3529584"/>
            <a:ext cx="5897880" cy="100584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40080" y="3785615"/>
            <a:ext cx="713232" cy="475488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3785615"/>
            <a:ext cx="713232" cy="475488"/>
          </a:xfrm>
          <a:prstGeom prst="rect">
            <a:avLst/>
          </a:prstGeom>
          <a:noFill/>
        </p:spPr>
        <p:txBody>
          <a:bodyPr wrap="square" lIns="0" tIns="18288" rIns="0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17904" y="3657600"/>
            <a:ext cx="4617720" cy="32918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边算边传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17904" y="4005072"/>
            <a:ext cx="4617720" cy="42062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400" b="0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卡在算这一块时，下一块已经在路上。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37960" y="1298448"/>
            <a:ext cx="5138928" cy="3346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93408" y="1389888"/>
            <a:ext cx="4846320" cy="27432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消融    相对加速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93408" y="1664208"/>
            <a:ext cx="4846320" cy="23774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200" b="0">
                <a:solidFill>
                  <a:srgbClr val="4E5D6C"/>
                </a:solidFill>
                <a:latin typeface="微软雅黑"/>
                <a:ea typeface="微软雅黑"/>
                <a:cs typeface="微软雅黑"/>
              </a:rPr>
              <a:t>单独开启约 1.0×，写的是量级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31152" y="3339655"/>
            <a:ext cx="804672" cy="976312"/>
          </a:xfrm>
          <a:prstGeom prst="rect">
            <a:avLst/>
          </a:prstGeom>
          <a:solidFill>
            <a:srgbClr val="5E7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39712" y="3083623"/>
            <a:ext cx="987552" cy="23774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200" b="1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≈1.0×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21424" y="4352544"/>
            <a:ext cx="1024128" cy="25603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200" b="0">
                <a:solidFill>
                  <a:srgbClr val="4E5D6C"/>
                </a:solidFill>
                <a:latin typeface="微软雅黑"/>
                <a:ea typeface="微软雅黑"/>
                <a:cs typeface="微软雅黑"/>
              </a:rPr>
              <a:t>都不开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91856" y="3339655"/>
            <a:ext cx="804672" cy="976312"/>
          </a:xfrm>
          <a:prstGeom prst="rect">
            <a:avLst/>
          </a:prstGeom>
          <a:solidFill>
            <a:srgbClr val="7FA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900416" y="3083623"/>
            <a:ext cx="987552" cy="23774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200" b="1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≈1.0×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82128" y="4352544"/>
            <a:ext cx="1024128" cy="25603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200" b="0">
                <a:solidFill>
                  <a:srgbClr val="4E5D6C"/>
                </a:solidFill>
                <a:latin typeface="微软雅黑"/>
                <a:ea typeface="微软雅黑"/>
                <a:cs typeface="微软雅黑"/>
              </a:rPr>
              <a:t>只开 M1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52560" y="3339655"/>
            <a:ext cx="804672" cy="976312"/>
          </a:xfrm>
          <a:prstGeom prst="rect">
            <a:avLst/>
          </a:prstGeom>
          <a:solidFill>
            <a:srgbClr val="7FA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961120" y="3083623"/>
            <a:ext cx="987552" cy="23774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200" b="1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≈1.0×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42832" y="4352544"/>
            <a:ext cx="1024128" cy="25603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200" b="0">
                <a:solidFill>
                  <a:srgbClr val="4E5D6C"/>
                </a:solidFill>
                <a:latin typeface="微软雅黑"/>
                <a:ea typeface="微软雅黑"/>
                <a:cs typeface="微软雅黑"/>
              </a:rPr>
              <a:t>只开 M3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113264" y="2441448"/>
            <a:ext cx="804672" cy="187451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021824" y="2185415"/>
            <a:ext cx="987552" cy="23774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200" b="1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1.92×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03536" y="4352544"/>
            <a:ext cx="1024128" cy="25603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200" b="0">
                <a:solidFill>
                  <a:srgbClr val="4E5D6C"/>
                </a:solidFill>
                <a:latin typeface="微软雅黑"/>
                <a:ea typeface="微软雅黑"/>
                <a:cs typeface="微软雅黑"/>
              </a:rPr>
              <a:t>一起开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5488" y="4809744"/>
            <a:ext cx="11201400" cy="1298448"/>
          </a:xfrm>
          <a:prstGeom prst="roundRect">
            <a:avLst>
              <a:gd name="adj" fmla="val 8000"/>
            </a:avLst>
          </a:prstGeom>
          <a:solidFill>
            <a:srgbClr val="FBF3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13232" y="4901184"/>
            <a:ext cx="10789920" cy="1115568"/>
          </a:xfrm>
          <a:prstGeom prst="rect">
            <a:avLst/>
          </a:prstGeom>
          <a:noFill/>
        </p:spPr>
        <p:txBody>
          <a:bodyPr wrap="square" lIns="54864" tIns="36576" rIns="54864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>
                <a:solidFill>
                  <a:srgbClr val="8A5A00"/>
                </a:solidFill>
                <a:latin typeface="微软雅黑"/>
                <a:ea typeface="微软雅黑"/>
                <a:cs typeface="微软雅黑"/>
              </a:rPr>
              <a:t>一个有意思的发现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lang="zh-CN" altLang="en-US" sz="2000" b="1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M1、M3 单独开都几乎没用。两个一起开，才到 1.92×。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zh-CN" altLang="en-US" sz="1500" b="0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只有传输不再堵死，计算才有空隙可以重叠。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19456" y="201168"/>
            <a:ext cx="11752783" cy="64556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7772400" cy="29260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300" b="1">
                <a:solidFill>
                  <a:srgbClr val="0070C0"/>
                </a:solidFill>
                <a:latin typeface="微软雅黑"/>
                <a:ea typeface="微软雅黑"/>
                <a:cs typeface="微软雅黑"/>
              </a:rPr>
              <a:t>实验设置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365760"/>
            <a:ext cx="2240280" cy="29260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zh-CN" altLang="en-US" sz="1300" b="1">
                <a:solidFill>
                  <a:srgbClr val="4E5D6C"/>
                </a:solidFill>
                <a:latin typeface="微软雅黑"/>
                <a:ea typeface="微软雅黑"/>
                <a:cs typeface="微软雅黑"/>
              </a:rPr>
              <a:t>06  / 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76656"/>
            <a:ext cx="11155680" cy="47548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两套 3090，用来检查结论换不换得了平台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53312"/>
            <a:ext cx="5532120" cy="2880360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499616"/>
            <a:ext cx="5029200" cy="27432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主实验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792224"/>
            <a:ext cx="5029200" cy="42062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实验室集群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395728"/>
            <a:ext cx="1554480" cy="42062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机器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39" y="2395728"/>
            <a:ext cx="3291840" cy="42062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 × RTX 3090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926080"/>
            <a:ext cx="1554480" cy="42062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链路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39" y="2926080"/>
            <a:ext cx="3291840" cy="42062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PCIe 4，无 P2P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3456432"/>
            <a:ext cx="1554480" cy="42062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卡间带宽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39" y="3456432"/>
            <a:ext cx="3291840" cy="42062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约 11 GB/s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353312"/>
            <a:ext cx="5532120" cy="2880360"/>
          </a:xfrm>
          <a:prstGeom prst="roundRect">
            <a:avLst>
              <a:gd name="adj" fmla="val 8000"/>
            </a:avLst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19672" y="1499616"/>
            <a:ext cx="5029200" cy="27432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300" b="1">
                <a:solidFill>
                  <a:srgbClr val="4E5D6C"/>
                </a:solidFill>
                <a:latin typeface="微软雅黑"/>
                <a:ea typeface="微软雅黑"/>
                <a:cs typeface="微软雅黑"/>
              </a:rPr>
              <a:t>换平台复核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1792224"/>
            <a:ext cx="5029200" cy="42062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2600" b="1">
                <a:solidFill>
                  <a:srgbClr val="0A4E86"/>
                </a:solidFill>
                <a:latin typeface="微软雅黑"/>
                <a:ea typeface="微软雅黑"/>
                <a:cs typeface="微软雅黑"/>
              </a:rPr>
              <a:t>vast.ai 租用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2395728"/>
            <a:ext cx="1554480" cy="42062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400" b="0">
                <a:solidFill>
                  <a:srgbClr val="4E5D6C"/>
                </a:solidFill>
                <a:latin typeface="微软雅黑"/>
                <a:ea typeface="微软雅黑"/>
                <a:cs typeface="微软雅黑"/>
              </a:rPr>
              <a:t>机器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59" y="2395728"/>
            <a:ext cx="3291840" cy="42062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4 × RTX 3090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9672" y="2926080"/>
            <a:ext cx="1554480" cy="42062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400" b="0">
                <a:solidFill>
                  <a:srgbClr val="4E5D6C"/>
                </a:solidFill>
                <a:latin typeface="微软雅黑"/>
                <a:ea typeface="微软雅黑"/>
                <a:cs typeface="微软雅黑"/>
              </a:rPr>
              <a:t>链路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59" y="2926080"/>
            <a:ext cx="3291840" cy="42062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PCIe 3，无 P2P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9672" y="3456432"/>
            <a:ext cx="1554480" cy="42062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400" b="0">
                <a:solidFill>
                  <a:srgbClr val="4E5D6C"/>
                </a:solidFill>
                <a:latin typeface="微软雅黑"/>
                <a:ea typeface="微软雅黑"/>
                <a:cs typeface="微软雅黑"/>
              </a:rPr>
              <a:t>卡间带宽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59" y="3456432"/>
            <a:ext cx="3291840" cy="42062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5.95 GB/s，大约一半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425696"/>
            <a:ext cx="5532120" cy="169164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3232" y="4572000"/>
            <a:ext cx="5120640" cy="29260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>
                <a:solidFill>
                  <a:srgbClr val="0070C0"/>
                </a:solidFill>
                <a:latin typeface="微软雅黑"/>
                <a:ea typeface="微软雅黑"/>
                <a:cs typeface="微软雅黑"/>
              </a:rPr>
              <a:t>两类负载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4937760"/>
            <a:ext cx="5120640" cy="38404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500" b="0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合成任务流：偏斜和突发可以控。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5376672"/>
            <a:ext cx="5120640" cy="45720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500" b="0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LLM decode 请求流：迁移的是真实 KV。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4425696"/>
            <a:ext cx="5422392" cy="169164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73952" y="4572000"/>
            <a:ext cx="5029200" cy="29260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>
                <a:solidFill>
                  <a:srgbClr val="0070C0"/>
                </a:solidFill>
                <a:latin typeface="微软雅黑"/>
                <a:ea typeface="微软雅黑"/>
                <a:cs typeface="微软雅黑"/>
              </a:rPr>
              <a:t>统计纪律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3952" y="4937760"/>
            <a:ext cx="5029200" cy="38404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500" b="0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每组跑 5 到 7 次。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3952" y="5376672"/>
            <a:ext cx="5029200" cy="45720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500" b="0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报告均值 ± 标准差，不拿单次跑当结论。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19456" y="201168"/>
            <a:ext cx="11752783" cy="64556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7772400" cy="29260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300" b="1">
                <a:solidFill>
                  <a:srgbClr val="0070C0"/>
                </a:solidFill>
                <a:latin typeface="微软雅黑"/>
                <a:ea typeface="微软雅黑"/>
                <a:cs typeface="微软雅黑"/>
              </a:rPr>
              <a:t>实验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365760"/>
            <a:ext cx="2240280" cy="29260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zh-CN" altLang="en-US" sz="1300" b="1">
                <a:solidFill>
                  <a:srgbClr val="4E5D6C"/>
                </a:solidFill>
                <a:latin typeface="微软雅黑"/>
                <a:ea typeface="微软雅黑"/>
                <a:cs typeface="微软雅黑"/>
              </a:rPr>
              <a:t>07  / 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76656"/>
            <a:ext cx="11155680" cy="47548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不均衡是真的，加卡几乎白加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35024"/>
            <a:ext cx="5532120" cy="196596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463040"/>
            <a:ext cx="5120640" cy="31089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400" b="0">
                <a:solidFill>
                  <a:srgbClr val="4E5D6C"/>
                </a:solidFill>
                <a:latin typeface="微软雅黑"/>
                <a:ea typeface="微软雅黑"/>
                <a:cs typeface="微软雅黑"/>
              </a:rPr>
              <a:t>静态平均分配，4 卡不均衡度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792224"/>
            <a:ext cx="5120640" cy="77724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5400" b="1">
                <a:solidFill>
                  <a:srgbClr val="0070C0"/>
                </a:solidFill>
                <a:latin typeface="微软雅黑"/>
                <a:ea typeface="微软雅黑"/>
                <a:cs typeface="微软雅黑"/>
              </a:rPr>
              <a:t>1.38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651760"/>
            <a:ext cx="5120640" cy="43891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400" b="0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有的卡明显更忙，整组被最慢的那张拖住。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35024"/>
            <a:ext cx="5468112" cy="196596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1463040"/>
            <a:ext cx="5074920" cy="31089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400" b="0">
                <a:solidFill>
                  <a:srgbClr val="4E5D6C"/>
                </a:solidFill>
                <a:latin typeface="微软雅黑"/>
                <a:ea typeface="微软雅黑"/>
                <a:cs typeface="微软雅黑"/>
              </a:rPr>
              <a:t>静态分配，从 1 卡扩到 4 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792224"/>
            <a:ext cx="5074920" cy="77724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5400" b="1">
                <a:solidFill>
                  <a:srgbClr val="8A5A00"/>
                </a:solidFill>
                <a:latin typeface="微软雅黑"/>
                <a:ea typeface="微软雅黑"/>
                <a:cs typeface="微软雅黑"/>
              </a:rPr>
              <a:t>+4%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651760"/>
            <a:ext cx="5074920" cy="43891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400" b="0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吞吐只涨了这么多。加卡几乎白加。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493008"/>
            <a:ext cx="11183112" cy="2633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3621024"/>
            <a:ext cx="10789920" cy="29260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500" b="1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每张卡的完成时间    ·    示意图，表达有一张卡拖到最后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54480" y="5029200"/>
            <a:ext cx="1325880" cy="65836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417320" y="5705855"/>
            <a:ext cx="1600200" cy="23774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200" b="1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GPU 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38728" y="4864607"/>
            <a:ext cx="1325880" cy="8229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01568" y="5705855"/>
            <a:ext cx="1600200" cy="23774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200" b="1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GPU 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22976" y="4754879"/>
            <a:ext cx="1325880" cy="9326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85816" y="5705855"/>
            <a:ext cx="1600200" cy="23774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200" b="1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GPU 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07223" y="4206240"/>
            <a:ext cx="1325880" cy="1481328"/>
          </a:xfrm>
          <a:prstGeom prst="rect">
            <a:avLst/>
          </a:prstGeom>
          <a:solidFill>
            <a:srgbClr val="8A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70063" y="5705855"/>
            <a:ext cx="1600200" cy="23774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200" b="1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GPU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19456" y="201168"/>
            <a:ext cx="11752783" cy="64556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7772400" cy="29260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300" b="1">
                <a:solidFill>
                  <a:srgbClr val="0070C0"/>
                </a:solidFill>
                <a:latin typeface="微软雅黑"/>
                <a:ea typeface="微软雅黑"/>
                <a:cs typeface="微软雅黑"/>
              </a:rPr>
              <a:t>实验 2  ·  主结果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365760"/>
            <a:ext cx="2240280" cy="29260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zh-CN" altLang="en-US" sz="1300" b="1">
                <a:solidFill>
                  <a:srgbClr val="4E5D6C"/>
                </a:solidFill>
                <a:latin typeface="微软雅黑"/>
                <a:ea typeface="微软雅黑"/>
                <a:cs typeface="微软雅黑"/>
              </a:rPr>
              <a:t>08  / 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76656"/>
            <a:ext cx="11155680" cy="47548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4 卡偏斜：比静态分配快近 2 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298448"/>
            <a:ext cx="5074920" cy="1060704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408176"/>
            <a:ext cx="2148840" cy="82296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>
                <a:solidFill>
                  <a:srgbClr val="0070C0"/>
                </a:solidFill>
                <a:latin typeface="微软雅黑"/>
                <a:ea typeface="微软雅黑"/>
                <a:cs typeface="微软雅黑"/>
              </a:rPr>
              <a:t>1.95×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408176"/>
            <a:ext cx="2606040" cy="32918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500" b="1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比静态分配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1755648"/>
            <a:ext cx="2606040" cy="50292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200" b="0">
                <a:solidFill>
                  <a:srgbClr val="4E5D6C"/>
                </a:solidFill>
                <a:latin typeface="微软雅黑"/>
                <a:ea typeface="微软雅黑"/>
                <a:cs typeface="微软雅黑"/>
              </a:rPr>
              <a:t>同样的偏斜负载，Ferry 的完成时间更短。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2468880"/>
            <a:ext cx="5074920" cy="1060704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578608"/>
            <a:ext cx="2148840" cy="82296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>
                <a:solidFill>
                  <a:srgbClr val="0070C0"/>
                </a:solidFill>
                <a:latin typeface="微软雅黑"/>
                <a:ea typeface="微软雅黑"/>
                <a:cs typeface="微软雅黑"/>
              </a:rPr>
              <a:t>1.77×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578608"/>
            <a:ext cx="2606040" cy="32918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500" b="1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比逐个任务窃取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926080"/>
            <a:ext cx="2606040" cy="50292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200" b="0">
                <a:solidFill>
                  <a:srgbClr val="4E5D6C"/>
                </a:solidFill>
                <a:latin typeface="微软雅黑"/>
                <a:ea typeface="微软雅黑"/>
                <a:cs typeface="微软雅黑"/>
              </a:rPr>
              <a:t>一次偷一个，搬运次数太多，PCIe 被打散。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" y="3639312"/>
            <a:ext cx="5074920" cy="1060704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749039"/>
            <a:ext cx="2148840" cy="82296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>
                <a:solidFill>
                  <a:srgbClr val="0070C0"/>
                </a:solidFill>
                <a:latin typeface="微软雅黑"/>
                <a:ea typeface="微软雅黑"/>
                <a:cs typeface="微软雅黑"/>
              </a:rPr>
              <a:t>约 100 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3749039"/>
            <a:ext cx="2606040" cy="32918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500" b="1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窃取次数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4096512"/>
            <a:ext cx="2606040" cy="50292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200" b="0">
                <a:solidFill>
                  <a:srgbClr val="4E5D6C"/>
                </a:solidFill>
                <a:latin typeface="微软雅黑"/>
                <a:ea typeface="微软雅黑"/>
                <a:cs typeface="微软雅黑"/>
              </a:rPr>
              <a:t>原先大约 2 万次。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0" y="1298448"/>
            <a:ext cx="5961888" cy="35112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97880" y="1408176"/>
            <a:ext cx="5623560" cy="29260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相对耗时    Ferry = 1，越短越快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97880" y="1700784"/>
            <a:ext cx="5623560" cy="29260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300" b="0">
                <a:solidFill>
                  <a:srgbClr val="4E5D6C"/>
                </a:solidFill>
                <a:latin typeface="微软雅黑"/>
                <a:ea typeface="微软雅黑"/>
                <a:cs typeface="微软雅黑"/>
              </a:rPr>
              <a:t>4 卡偏斜这一档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7880" y="2212848"/>
            <a:ext cx="1325880" cy="5029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300" b="1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静态分配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69480" y="2304288"/>
            <a:ext cx="3246120" cy="347472"/>
          </a:xfrm>
          <a:prstGeom prst="roundRect">
            <a:avLst>
              <a:gd name="adj" fmla="val 15000"/>
            </a:avLst>
          </a:prstGeom>
          <a:solidFill>
            <a:srgbClr val="5E7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588752" y="2212848"/>
            <a:ext cx="777240" cy="5029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1.95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97880" y="2990088"/>
            <a:ext cx="1325880" cy="5029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300" b="1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逐个窃取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69480" y="3081528"/>
            <a:ext cx="2946478" cy="347472"/>
          </a:xfrm>
          <a:prstGeom prst="roundRect">
            <a:avLst>
              <a:gd name="adj" fmla="val 15000"/>
            </a:avLst>
          </a:prstGeom>
          <a:solidFill>
            <a:srgbClr val="7FA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289110" y="2990088"/>
            <a:ext cx="777240" cy="5029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1.77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97880" y="3767328"/>
            <a:ext cx="1325880" cy="5029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300" b="1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Ferry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69480" y="3858768"/>
            <a:ext cx="1664676" cy="347472"/>
          </a:xfrm>
          <a:prstGeom prst="roundRect">
            <a:avLst>
              <a:gd name="adj" fmla="val 15000"/>
            </a:avLst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007308" y="3767328"/>
            <a:ext cx="777240" cy="5029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1.00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4864608"/>
            <a:ext cx="5532120" cy="1261872"/>
          </a:xfrm>
          <a:prstGeom prst="roundRect">
            <a:avLst>
              <a:gd name="adj" fmla="val 8000"/>
            </a:avLst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8368" y="4974336"/>
            <a:ext cx="5212080" cy="27432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300" b="1">
                <a:solidFill>
                  <a:srgbClr val="0070C0"/>
                </a:solidFill>
                <a:latin typeface="微软雅黑"/>
                <a:ea typeface="微软雅黑"/>
                <a:cs typeface="微软雅黑"/>
              </a:rPr>
              <a:t>从 1 卡扩到 4 卡，吞吐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285232"/>
            <a:ext cx="5212080" cy="32918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Ferry  1.40×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5632704"/>
            <a:ext cx="5212080" cy="32918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600" b="0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静态分配只有  1.04×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2200" y="4864608"/>
            <a:ext cx="5504688" cy="1261872"/>
          </a:xfrm>
          <a:prstGeom prst="roundRect">
            <a:avLst>
              <a:gd name="adj" fmla="val 8000"/>
            </a:avLst>
          </a:prstGeom>
          <a:solidFill>
            <a:srgbClr val="E8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55080" y="4974336"/>
            <a:ext cx="5166360" cy="27432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300" b="1">
                <a:solidFill>
                  <a:srgbClr val="1B7A4D"/>
                </a:solidFill>
                <a:latin typeface="微软雅黑"/>
                <a:ea typeface="微软雅黑"/>
                <a:cs typeface="微软雅黑"/>
              </a:rPr>
              <a:t>换一台机器，机制倍数几乎不变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5285232"/>
            <a:ext cx="5166360" cy="32918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1.92×    与    1.93×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5632704"/>
            <a:ext cx="5166360" cy="36576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300" b="0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两台机器带宽差约 2 倍。结论不绑在一台硬件上。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19456" y="201168"/>
            <a:ext cx="11752783" cy="64556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7772400" cy="29260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300" b="1">
                <a:solidFill>
                  <a:srgbClr val="0070C0"/>
                </a:solidFill>
                <a:latin typeface="微软雅黑"/>
                <a:ea typeface="微软雅黑"/>
                <a:cs typeface="微软雅黑"/>
              </a:rPr>
              <a:t>实验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365760"/>
            <a:ext cx="2240280" cy="29260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zh-CN" altLang="en-US" sz="1300" b="1">
                <a:solidFill>
                  <a:srgbClr val="4E5D6C"/>
                </a:solidFill>
                <a:latin typeface="微软雅黑"/>
                <a:ea typeface="微软雅黑"/>
                <a:cs typeface="微软雅黑"/>
              </a:rPr>
              <a:t>09  / 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76656"/>
            <a:ext cx="11155680" cy="47548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加速主要来自流水化，不来自怎么偷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11155680" cy="32918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600" b="0">
                <a:solidFill>
                  <a:srgbClr val="4E5D6C"/>
                </a:solidFill>
                <a:latin typeface="微软雅黑"/>
                <a:ea typeface="微软雅黑"/>
                <a:cs typeface="微软雅黑"/>
              </a:rPr>
              <a:t>把总加速拆开。主要功劳在执行引擎，不在窃取策略。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5074920" cy="2606040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4663440" cy="32918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>
                <a:solidFill>
                  <a:srgbClr val="D6E8F5"/>
                </a:solidFill>
                <a:latin typeface="微软雅黑"/>
                <a:ea typeface="微软雅黑"/>
                <a:cs typeface="微软雅黑"/>
              </a:rPr>
              <a:t>执行引擎  ·  流水化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77440"/>
            <a:ext cx="4663440" cy="82296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约 1.55×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83280"/>
            <a:ext cx="4663440" cy="64008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搬运和计算重叠之后，卡不用干等数据。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2606040"/>
            <a:ext cx="822960" cy="82296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3600" b="1">
                <a:solidFill>
                  <a:srgbClr val="0070C0"/>
                </a:solidFill>
                <a:latin typeface="微软雅黑"/>
                <a:ea typeface="微软雅黑"/>
                <a:cs typeface="微软雅黑"/>
              </a:rPr>
              <a:t>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1783080"/>
            <a:ext cx="5074920" cy="2606040"/>
          </a:xfrm>
          <a:prstGeom prst="roundRect">
            <a:avLst>
              <a:gd name="adj" fmla="val 8000"/>
            </a:avLst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12280" y="1965960"/>
            <a:ext cx="4663440" cy="32918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>
                <a:solidFill>
                  <a:srgbClr val="0070C0"/>
                </a:solidFill>
                <a:latin typeface="微软雅黑"/>
                <a:ea typeface="微软雅黑"/>
                <a:cs typeface="微软雅黑"/>
              </a:rPr>
              <a:t>批量窃取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2377440"/>
            <a:ext cx="4663440" cy="82296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4800" b="1">
                <a:solidFill>
                  <a:srgbClr val="0A4E86"/>
                </a:solidFill>
                <a:latin typeface="微软雅黑"/>
                <a:ea typeface="微软雅黑"/>
                <a:cs typeface="微软雅黑"/>
              </a:rPr>
              <a:t>约 1.13×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3383280"/>
            <a:ext cx="4663440" cy="64008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500" b="0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一次偷一批，而不是一次偷一个。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617720"/>
            <a:ext cx="11183112" cy="1508760"/>
          </a:xfrm>
          <a:prstGeom prst="roundRect">
            <a:avLst>
              <a:gd name="adj" fmla="val 8000"/>
            </a:avLst>
          </a:prstGeom>
          <a:solidFill>
            <a:srgbClr val="FBF3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4754880"/>
            <a:ext cx="10698480" cy="29260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>
                <a:solidFill>
                  <a:srgbClr val="8A5A00"/>
                </a:solidFill>
                <a:latin typeface="微软雅黑"/>
                <a:ea typeface="微软雅黑"/>
                <a:cs typeface="微软雅黑"/>
              </a:rPr>
              <a:t>对照，用来卡住卖点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102352"/>
            <a:ext cx="10698480" cy="36576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经典的「偷一半」放进同一个引擎，效果和我的策略差不多。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532120"/>
            <a:ext cx="10698480" cy="36576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500" b="0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所以我不把窃取策略当核心卖点。引擎把路铺平之后，偷多少次是第二位的。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19456" y="201168"/>
            <a:ext cx="11752783" cy="64556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7772400" cy="29260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300" b="1">
                <a:solidFill>
                  <a:srgbClr val="0070C0"/>
                </a:solidFill>
                <a:latin typeface="微软雅黑"/>
                <a:ea typeface="微软雅黑"/>
                <a:cs typeface="微软雅黑"/>
              </a:rPr>
              <a:t>实验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365760"/>
            <a:ext cx="2240280" cy="29260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zh-CN" altLang="en-US" sz="1300" b="1">
                <a:solidFill>
                  <a:srgbClr val="4E5D6C"/>
                </a:solidFill>
                <a:latin typeface="微软雅黑"/>
                <a:ea typeface="微软雅黑"/>
                <a:cs typeface="微软雅黑"/>
              </a:rPr>
              <a:t>10  / 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76656"/>
            <a:ext cx="11155680" cy="47548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代价模型不对，决策就没有用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35024"/>
            <a:ext cx="3611880" cy="3703320"/>
          </a:xfrm>
          <a:prstGeom prst="roundRect">
            <a:avLst>
              <a:gd name="adj" fmla="val 8000"/>
            </a:avLst>
          </a:prstGeom>
          <a:solidFill>
            <a:srgbClr val="FBF3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" y="1499616"/>
            <a:ext cx="3246120" cy="29260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300" b="1">
                <a:solidFill>
                  <a:srgbClr val="8A5A00"/>
                </a:solidFill>
                <a:latin typeface="微软雅黑"/>
                <a:ea typeface="微软雅黑"/>
                <a:cs typeface="微软雅黑"/>
              </a:rPr>
              <a:t>尝试，失败了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874519"/>
            <a:ext cx="3246120" cy="77724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成本感知的批大小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788920"/>
            <a:ext cx="3209544" cy="96012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500" b="0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按积压、在途数据、带宽，实时决定一次搬多少。记作 E。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3794760"/>
            <a:ext cx="3209544" cy="100584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500" b="1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合成负载上没有收益。5 档参数，曲线全是平的。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9392" y="1335024"/>
            <a:ext cx="3611880" cy="370332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0559" y="1499616"/>
            <a:ext cx="3246120" cy="29260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300" b="1">
                <a:solidFill>
                  <a:srgbClr val="0A4E86"/>
                </a:solidFill>
                <a:latin typeface="微软雅黑"/>
                <a:ea typeface="微软雅黑"/>
                <a:cs typeface="微软雅黑"/>
              </a:rPr>
              <a:t>原因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1874519"/>
            <a:ext cx="3246120" cy="77724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那里根本没得优化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2788920"/>
            <a:ext cx="3209544" cy="96012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500" b="0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这个负载窃取时只搬任务编号，不搬数据。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59" y="3794760"/>
            <a:ext cx="3209544" cy="100584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500" b="1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总传输量是恒定的。决策没有可优化的对象。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55864" y="1335024"/>
            <a:ext cx="3611880" cy="3703320"/>
          </a:xfrm>
          <a:prstGeom prst="roundRect">
            <a:avLst>
              <a:gd name="adj" fmla="val 8000"/>
            </a:avLst>
          </a:prstGeom>
          <a:solidFill>
            <a:srgbClr val="E8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57032" y="1499616"/>
            <a:ext cx="3246120" cy="29260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300" b="1">
                <a:solidFill>
                  <a:srgbClr val="1B7A4D"/>
                </a:solidFill>
                <a:latin typeface="微软雅黑"/>
                <a:ea typeface="微软雅黑"/>
                <a:cs typeface="微软雅黑"/>
              </a:rPr>
              <a:t>后来救回来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2" y="1874519"/>
            <a:ext cx="3246120" cy="77724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改成真实的请求迁移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2" y="2788920"/>
            <a:ext cx="3209544" cy="96012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500" b="0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偷请求时，连它的热 KV 一起搬过去。代价变成了真的。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2" y="3794760"/>
            <a:ext cx="3209544" cy="100584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500" b="1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迁移数据量减少 31% 到 92%。均衡更好，吞吐不降。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212080"/>
            <a:ext cx="11183112" cy="914400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5212080"/>
            <a:ext cx="10835640" cy="91440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收获    决策有没有价值，取决于它的代价模型是否反映了真实代价。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19456" y="201168"/>
            <a:ext cx="11750040" cy="645566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70C0"/>
                </a:solidFill>
                <a:latin typeface="微软雅黑"/>
              </a:rPr>
              <a:t>实验 5  ·  外部基线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365760"/>
            <a:ext cx="2240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4E5D6C"/>
                </a:solidFill>
                <a:latin typeface="微软雅黑"/>
              </a:rPr>
              <a:t/>
            </a:r>
            <a:r>
              <a:rPr sz="1300" b="1">
                <a:solidFill>
                  <a:srgbClr val="4E5D6C"/>
                </a:solidFill>
                <a:latin typeface="微软雅黑"/>
              </a:rPr>
              <a:t>11  / 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76656"/>
            <a:ext cx="111556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B2838"/>
                </a:solidFill>
                <a:latin typeface="微软雅黑"/>
              </a:rPr>
              <a:t>先和别人的做法比：我原来的策略输了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298448"/>
            <a:ext cx="5532120" cy="1828800"/>
          </a:xfrm>
          <a:prstGeom prst="roundRect">
            <a:avLst>
              <a:gd name="adj" fmla="val 6000"/>
            </a:avLst>
          </a:prstGeom>
          <a:solidFill>
            <a:srgbClr val="E7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3232" y="1444752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70C0"/>
                </a:solidFill>
                <a:latin typeface="微软雅黑"/>
              </a:rPr>
              <a:t>拿来比的两个外部做法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810512"/>
            <a:ext cx="502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B2838"/>
                </a:solidFill>
                <a:latin typeface="微软雅黑"/>
              </a:rPr>
              <a:t>Llumnix 的策略：挑最空的卡派活，再周期性全局重排。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432304"/>
            <a:ext cx="502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B2838"/>
                </a:solidFill>
                <a:latin typeface="微软雅黑"/>
              </a:rPr>
              <a:t>轮转派活：一张一张轮着发，中途完全不调整。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298448"/>
            <a:ext cx="5504688" cy="1828800"/>
          </a:xfrm>
          <a:prstGeom prst="roundRect">
            <a:avLst>
              <a:gd name="adj" fmla="val 6000"/>
            </a:avLst>
          </a:prstGeom>
          <a:solidFill>
            <a:srgbClr val="FB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00800" y="1444752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A5A00"/>
                </a:solidFill>
                <a:latin typeface="微软雅黑"/>
              </a:rPr>
              <a:t>结果不好看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10512"/>
            <a:ext cx="2103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1B2838"/>
                </a:solidFill>
                <a:latin typeface="微软雅黑"/>
              </a:rPr>
              <a:t>1.17×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1865376"/>
            <a:ext cx="29260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B2838"/>
                </a:solidFill>
                <a:latin typeface="微软雅黑"/>
              </a:rPr>
              <a:t>最笨的轮转派活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B2838"/>
                </a:solidFill>
                <a:latin typeface="微软雅黑"/>
              </a:rPr>
              <a:t>反而最快，而且一次都没搬过数据。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65176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B2838"/>
                </a:solidFill>
                <a:latin typeface="微软雅黑"/>
              </a:rPr>
              <a:t>Llumnix 的策略也没赢过它。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3310128"/>
            <a:ext cx="11201400" cy="1481328"/>
          </a:xfrm>
          <a:prstGeom prst="roundRect">
            <a:avLst>
              <a:gd name="adj" fmla="val 6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13232" y="3456432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70C0"/>
                </a:solidFill>
                <a:latin typeface="微软雅黑"/>
              </a:rPr>
              <a:t>为什么会这样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80390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B2838"/>
                </a:solidFill>
                <a:latin typeface="微软雅黑"/>
              </a:rPr>
              <a:t>我原来的测法里，一个请求放在哪张卡上，要补的数据量都一样。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B2838"/>
                </a:solidFill>
                <a:latin typeface="微软雅黑"/>
              </a:rPr>
              <a:t>既然放哪都一样，那“把请求搬到对的卡上”就没有任何好处，只剩搬运的开销。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" y="4974336"/>
            <a:ext cx="11201400" cy="1188720"/>
          </a:xfrm>
          <a:prstGeom prst="roundRect">
            <a:avLst>
              <a:gd name="adj" fmla="val 6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13232" y="5138928"/>
            <a:ext cx="10744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D6E8F5"/>
                </a:solidFill>
                <a:latin typeface="微软雅黑"/>
              </a:rPr>
              <a:t>这是个坏消息，但它指出了缺的东西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5504688"/>
            <a:ext cx="10744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微软雅黑"/>
              </a:rPr>
              <a:t>我必须把“请求和卡的绑定为什么有价值”这件事真正建进模型里，否则整套搬运机制都立不住。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19456" y="201168"/>
            <a:ext cx="11750040" cy="645566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70C0"/>
                </a:solidFill>
                <a:latin typeface="微软雅黑"/>
              </a:rPr>
              <a:t>实验 6  ·  关键修正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365760"/>
            <a:ext cx="2240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4E5D6C"/>
                </a:solidFill>
                <a:latin typeface="微软雅黑"/>
              </a:rPr>
              <a:t/>
            </a:r>
            <a:r>
              <a:rPr sz="1300" b="1">
                <a:solidFill>
                  <a:srgbClr val="4E5D6C"/>
                </a:solidFill>
                <a:latin typeface="微软雅黑"/>
              </a:rPr>
              <a:t>12  / 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76656"/>
            <a:ext cx="111556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B2838"/>
                </a:solidFill>
                <a:latin typeface="微软雅黑"/>
              </a:rPr>
              <a:t>把前缀缓存建进去，结论反过来了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298448"/>
            <a:ext cx="11201400" cy="1371600"/>
          </a:xfrm>
          <a:prstGeom prst="roundRect">
            <a:avLst>
              <a:gd name="adj" fmla="val 6000"/>
            </a:avLst>
          </a:prstGeom>
          <a:solidFill>
            <a:srgbClr val="E7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3232" y="1426464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70C0"/>
                </a:solidFill>
                <a:latin typeface="微软雅黑"/>
              </a:rPr>
              <a:t>补上的那件事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773936"/>
            <a:ext cx="10789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B2838"/>
                </a:solidFill>
                <a:latin typeface="微软雅黑"/>
              </a:rPr>
              <a:t>现实里，开头相同的请求会共用同一份前缀缓存。谁和谁放一张卡上，要补的数据量就不一样了。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B2838"/>
                </a:solidFill>
                <a:latin typeface="微软雅黑"/>
              </a:rPr>
              <a:t>我把这层做进了负载和缓存模型：同前缀的请求成组，共享归属卡和缓存。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2798064"/>
            <a:ext cx="3593592" cy="2286000"/>
          </a:xfrm>
          <a:prstGeom prst="roundRect">
            <a:avLst>
              <a:gd name="adj" fmla="val 6000"/>
            </a:avLst>
          </a:prstGeom>
          <a:solidFill>
            <a:srgbClr val="E8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76656" y="294436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70C0"/>
                </a:solidFill>
                <a:latin typeface="微软雅黑"/>
              </a:rPr>
              <a:t>我的策略 vs 轮转派活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291840"/>
            <a:ext cx="3200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1B2838"/>
                </a:solidFill>
                <a:latin typeface="微软雅黑"/>
              </a:rPr>
              <a:t>0.75×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4187952"/>
            <a:ext cx="3200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B2838"/>
                </a:solidFill>
                <a:latin typeface="微软雅黑"/>
              </a:rPr>
              <a:t>原来是 1.17×，现在反过来，快 25%。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B2838"/>
                </a:solidFill>
                <a:latin typeface="微软雅黑"/>
              </a:rPr>
              <a:t>28 次里 27 次都赢。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9392" y="2798064"/>
            <a:ext cx="3593592" cy="2286000"/>
          </a:xfrm>
          <a:prstGeom prst="roundRect">
            <a:avLst>
              <a:gd name="adj" fmla="val 6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480559" y="294436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70C0"/>
                </a:solidFill>
                <a:latin typeface="微软雅黑"/>
              </a:rPr>
              <a:t>要补的数据量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59" y="3291840"/>
            <a:ext cx="3200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1B2838"/>
                </a:solidFill>
                <a:latin typeface="微软雅黑"/>
              </a:rPr>
              <a:t>少 41%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59" y="4187952"/>
            <a:ext cx="3200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B2838"/>
                </a:solidFill>
                <a:latin typeface="微软雅黑"/>
              </a:rPr>
              <a:t>遵守绑定：约 670 MB。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B2838"/>
                </a:solidFill>
                <a:latin typeface="微软雅黑"/>
              </a:rPr>
              <a:t>无视绑定：1257 MB。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83296" y="2798064"/>
            <a:ext cx="3593592" cy="2286000"/>
          </a:xfrm>
          <a:prstGeom prst="roundRect">
            <a:avLst>
              <a:gd name="adj" fmla="val 6000"/>
            </a:avLst>
          </a:prstGeom>
          <a:solidFill>
            <a:srgbClr val="FB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284464" y="294436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A5A00"/>
                </a:solidFill>
                <a:latin typeface="微软雅黑"/>
              </a:rPr>
              <a:t>搬运方式本身的影响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4" y="3291840"/>
            <a:ext cx="3200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1B2838"/>
                </a:solidFill>
                <a:latin typeface="微软雅黑"/>
              </a:rPr>
              <a:t>1.47×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4464" y="4187952"/>
            <a:ext cx="3200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B2838"/>
                </a:solidFill>
                <a:latin typeface="微软雅黑"/>
              </a:rPr>
              <a:t>逐条搬 vs 成批搬。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B2838"/>
                </a:solidFill>
                <a:latin typeface="微软雅黑"/>
              </a:rPr>
              <a:t>实现方式不对，收益会被吃光。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5266944"/>
            <a:ext cx="11201400" cy="914400"/>
          </a:xfrm>
          <a:prstGeom prst="roundRect">
            <a:avLst>
              <a:gd name="adj" fmla="val 6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13232" y="5413248"/>
            <a:ext cx="10744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FFFFFF"/>
                </a:solidFill>
                <a:latin typeface="微软雅黑"/>
              </a:rPr>
              <a:t>搬运到底值不值，取决于负载有没有局部性。没有局部性时不该搬；有局部性时，搬运能省掉一半的补数据。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19456" y="201168"/>
            <a:ext cx="11750040" cy="645566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70C0"/>
                </a:solidFill>
                <a:latin typeface="微软雅黑"/>
              </a:rPr>
              <a:t>实验 7  ·  自查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365760"/>
            <a:ext cx="2240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4E5D6C"/>
                </a:solidFill>
                <a:latin typeface="微软雅黑"/>
              </a:rPr>
              <a:t/>
            </a:r>
            <a:r>
              <a:rPr sz="1300" b="1">
                <a:solidFill>
                  <a:srgbClr val="4E5D6C"/>
                </a:solidFill>
                <a:latin typeface="微软雅黑"/>
              </a:rPr>
              <a:t>13  / 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76656"/>
            <a:ext cx="111556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B2838"/>
                </a:solidFill>
                <a:latin typeface="微软雅黑"/>
              </a:rPr>
              <a:t>我把自己之前的一个结论推翻了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298448"/>
            <a:ext cx="5532120" cy="2212848"/>
          </a:xfrm>
          <a:prstGeom prst="roundRect">
            <a:avLst>
              <a:gd name="adj" fmla="val 6000"/>
            </a:avLst>
          </a:prstGeom>
          <a:solidFill>
            <a:srgbClr val="FB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3232" y="1444752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A5A00"/>
                </a:solidFill>
                <a:latin typeface="微软雅黑"/>
              </a:rPr>
              <a:t>之前报过的结果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792224"/>
            <a:ext cx="502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B2838"/>
                </a:solidFill>
                <a:latin typeface="微软雅黑"/>
              </a:rPr>
              <a:t>只搬“正在用的那部分”数据时，我的代价感知策略快 22% 到 36%。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450592"/>
            <a:ext cx="5029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B2838"/>
                </a:solidFill>
                <a:latin typeface="微软雅黑"/>
              </a:rPr>
              <a:t>我当时就记下了一个疑点：这条路我写得很笨，是一小块一小块单独搬的，特别慢。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298448"/>
            <a:ext cx="5504688" cy="2212848"/>
          </a:xfrm>
          <a:prstGeom prst="roundRect">
            <a:avLst>
              <a:gd name="adj" fmla="val 6000"/>
            </a:avLst>
          </a:prstGeom>
          <a:solidFill>
            <a:srgbClr val="E7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00800" y="1444752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70C0"/>
                </a:solidFill>
                <a:latin typeface="微软雅黑"/>
              </a:rPr>
              <a:t>查下去发现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792224"/>
            <a:ext cx="502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B2838"/>
                </a:solidFill>
                <a:latin typeface="微软雅黑"/>
              </a:rPr>
              <a:t>改成成批搬之后，同样 24 MB 从 9.5 毫秒降到 1.5 毫秒，快 6.8 倍。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450592"/>
            <a:ext cx="5029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B2838"/>
                </a:solidFill>
                <a:latin typeface="微软雅黑"/>
              </a:rPr>
              <a:t>原来那个“快 22% 到 36%”，是因为我的策略少搬了 65%，少踩了这个坑而已——不是决策本身更聪明。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" y="3694176"/>
            <a:ext cx="5532120" cy="1481328"/>
          </a:xfrm>
          <a:prstGeom prst="roundRect">
            <a:avLst>
              <a:gd name="adj" fmla="val 6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13232" y="3840480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70C0"/>
                </a:solidFill>
                <a:latin typeface="微软雅黑"/>
              </a:rPr>
              <a:t>重跑 112 次之后的结论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187952"/>
            <a:ext cx="50292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B2838"/>
                </a:solidFill>
                <a:latin typeface="微软雅黑"/>
              </a:rPr>
              <a:t>坑填平了，优势就没了：和基础版本打平（0.99）。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B2838"/>
                </a:solidFill>
                <a:latin typeface="微软雅黑"/>
              </a:rPr>
              <a:t>旧结论作废，我在文稿里标了作废。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694176"/>
            <a:ext cx="5504688" cy="1481328"/>
          </a:xfrm>
          <a:prstGeom prst="roundRect">
            <a:avLst>
              <a:gd name="adj" fmla="val 6000"/>
            </a:avLst>
          </a:prstGeom>
          <a:solidFill>
            <a:srgbClr val="E8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400800" y="3840480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70C0"/>
                </a:solidFill>
                <a:latin typeface="微软雅黑"/>
              </a:rPr>
              <a:t>但换来两个真结果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187952"/>
            <a:ext cx="50292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B2838"/>
                </a:solidFill>
                <a:latin typeface="微软雅黑"/>
              </a:rPr>
              <a:t>一、只搬正在用的部分，现在是最快的配置（省 55% 搬运量）。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B2838"/>
                </a:solidFill>
                <a:latin typeface="微软雅黑"/>
              </a:rPr>
              <a:t>二、代价感知的真价值：同样快，但少搬 65%。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" y="5358384"/>
            <a:ext cx="11201400" cy="822960"/>
          </a:xfrm>
          <a:prstGeom prst="roundRect">
            <a:avLst>
              <a:gd name="adj" fmla="val 6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13232" y="5486400"/>
            <a:ext cx="107442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</a:rPr>
              <a:t>我宁愿自己先把它推翻，也不想等审稿人问“你是不是把对照组写差了”。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19456" y="201168"/>
            <a:ext cx="11752783" cy="64556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7772400" cy="29260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300" b="1">
                <a:solidFill>
                  <a:srgbClr val="0070C0"/>
                </a:solidFill>
                <a:latin typeface="微软雅黑"/>
                <a:ea typeface="微软雅黑"/>
                <a:cs typeface="微软雅黑"/>
              </a:rPr>
              <a:t>现状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365760"/>
            <a:ext cx="2240280" cy="29260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zh-CN" altLang="en-US" sz="1300" b="1">
                <a:solidFill>
                  <a:srgbClr val="4E5D6C"/>
                </a:solidFill>
                <a:latin typeface="微软雅黑"/>
                <a:ea typeface="微软雅黑"/>
                <a:cs typeface="微软雅黑"/>
              </a:rPr>
              <a:t>14  / 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76656"/>
            <a:ext cx="11155680" cy="47548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B2838"/>
                </a:solidFill>
                <a:latin typeface="微软雅黑"/>
              </a:rPr>
              <a:t>闭环已经立住，剩下的是加强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335024"/>
            <a:ext cx="5212080" cy="4096512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499616"/>
            <a:ext cx="4754880" cy="34747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>
                <a:solidFill>
                  <a:srgbClr val="0070C0"/>
                </a:solidFill>
                <a:latin typeface="微软雅黑"/>
                <a:ea typeface="微软雅黑"/>
                <a:cs typeface="微软雅黑"/>
              </a:rPr>
              <a:t>已经做完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2066544"/>
            <a:ext cx="256032" cy="256032"/>
          </a:xfrm>
          <a:prstGeom prst="ellipse">
            <a:avLst/>
          </a:prstGeom>
          <a:solidFill>
            <a:srgbClr val="1B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2048256"/>
            <a:ext cx="256032" cy="274320"/>
          </a:xfrm>
          <a:prstGeom prst="rect">
            <a:avLst/>
          </a:prstGeom>
          <a:noFill/>
        </p:spPr>
        <p:txBody>
          <a:bodyPr wrap="square" lIns="0" tIns="18288" rIns="0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011680"/>
            <a:ext cx="4297680" cy="4389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400" b="0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问题本身验证过：静态分配加卡几乎白加</a:t>
            </a:r>
          </a:p>
        </p:txBody>
      </p:sp>
      <p:sp>
        <p:nvSpPr>
          <p:cNvPr id="12" name="Oval 11"/>
          <p:cNvSpPr/>
          <p:nvPr/>
        </p:nvSpPr>
        <p:spPr>
          <a:xfrm>
            <a:off x="749808" y="2542032"/>
            <a:ext cx="256032" cy="256032"/>
          </a:xfrm>
          <a:prstGeom prst="ellipse">
            <a:avLst/>
          </a:prstGeom>
          <a:solidFill>
            <a:srgbClr val="1B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2523744"/>
            <a:ext cx="256032" cy="274320"/>
          </a:xfrm>
          <a:prstGeom prst="rect">
            <a:avLst/>
          </a:prstGeom>
          <a:noFill/>
        </p:spPr>
        <p:txBody>
          <a:bodyPr wrap="square" lIns="0" tIns="18288" rIns="0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487168"/>
            <a:ext cx="4297680" cy="4389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400" b="0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三个机制，以及 M1 和 M3 必须一起开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" y="3017520"/>
            <a:ext cx="256032" cy="256032"/>
          </a:xfrm>
          <a:prstGeom prst="ellipse">
            <a:avLst/>
          </a:prstGeom>
          <a:solidFill>
            <a:srgbClr val="1B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9808" y="2999232"/>
            <a:ext cx="256032" cy="274320"/>
          </a:xfrm>
          <a:prstGeom prst="rect">
            <a:avLst/>
          </a:prstGeom>
          <a:noFill/>
        </p:spPr>
        <p:txBody>
          <a:bodyPr wrap="square" lIns="0" tIns="18288" rIns="0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2962656"/>
            <a:ext cx="4297680" cy="4389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400" b="0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4 卡上的主结果</a:t>
            </a:r>
          </a:p>
        </p:txBody>
      </p:sp>
      <p:sp>
        <p:nvSpPr>
          <p:cNvPr id="18" name="Oval 17"/>
          <p:cNvSpPr/>
          <p:nvPr/>
        </p:nvSpPr>
        <p:spPr>
          <a:xfrm>
            <a:off x="749808" y="3493008"/>
            <a:ext cx="256032" cy="256032"/>
          </a:xfrm>
          <a:prstGeom prst="ellipse">
            <a:avLst/>
          </a:prstGeom>
          <a:solidFill>
            <a:srgbClr val="1B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9808" y="3474720"/>
            <a:ext cx="256032" cy="274320"/>
          </a:xfrm>
          <a:prstGeom prst="rect">
            <a:avLst/>
          </a:prstGeom>
          <a:noFill/>
        </p:spPr>
        <p:txBody>
          <a:bodyPr wrap="square" lIns="0" tIns="18288" rIns="0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438144"/>
            <a:ext cx="4297680" cy="4389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400" b="0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换一台带宽差一倍的机器，倍数还在</a:t>
            </a:r>
          </a:p>
        </p:txBody>
      </p:sp>
      <p:sp>
        <p:nvSpPr>
          <p:cNvPr id="21" name="Oval 20"/>
          <p:cNvSpPr/>
          <p:nvPr/>
        </p:nvSpPr>
        <p:spPr>
          <a:xfrm>
            <a:off x="749808" y="3968496"/>
            <a:ext cx="256032" cy="256032"/>
          </a:xfrm>
          <a:prstGeom prst="ellipse">
            <a:avLst/>
          </a:prstGeom>
          <a:solidFill>
            <a:srgbClr val="1B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9808" y="3950208"/>
            <a:ext cx="256032" cy="274320"/>
          </a:xfrm>
          <a:prstGeom prst="rect">
            <a:avLst/>
          </a:prstGeom>
          <a:noFill/>
        </p:spPr>
        <p:txBody>
          <a:bodyPr wrap="square" lIns="0" tIns="18288" rIns="0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3913632"/>
            <a:ext cx="4297680" cy="4389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400" b="0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LLM 请求迁移这条链路走通了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70448" y="1335024"/>
            <a:ext cx="5806440" cy="1280160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35040" y="1591056"/>
            <a:ext cx="502920" cy="7315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1481328"/>
            <a:ext cx="4754880" cy="29260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300" b="1">
                <a:solidFill>
                  <a:srgbClr val="D6E8F5"/>
                </a:solidFill>
                <a:latin typeface="微软雅黑"/>
                <a:ea typeface="微软雅黑"/>
                <a:cs typeface="微软雅黑"/>
              </a:rPr>
              <a:t>已补上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1810512"/>
            <a:ext cx="4754880" cy="64008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已完成。确认了代价感知的真价值是“同样快、少搬 65%”，</a:t>
            </a:r>
          </a:p>
          <a:p>
            <a:r>
              <a:rPr sz="1500" b="1">
                <a:solidFill>
                  <a:srgbClr val="FFFFFF"/>
                </a:solidFill>
                <a:latin typeface="微软雅黑"/>
              </a:rPr>
              <a:t>旧的吞吐收益结论已作废。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70448" y="2724912"/>
            <a:ext cx="5806440" cy="1280160"/>
          </a:xfrm>
          <a:prstGeom prst="roundRect">
            <a:avLst>
              <a:gd name="adj" fmla="val 8000"/>
            </a:avLst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35040" y="2980944"/>
            <a:ext cx="502920" cy="7315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2600" b="1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2871216"/>
            <a:ext cx="4754880" cy="29260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70C0"/>
                </a:solidFill>
                <a:latin typeface="微软雅黑"/>
              </a:rPr>
              <a:t>已完成。前缀缓存亲和性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3200400"/>
            <a:ext cx="4754880" cy="64008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B2838"/>
                </a:solidFill>
                <a:latin typeface="微软雅黑"/>
              </a:rPr>
              <a:t>请求和卡的绑定有了来源，也让搬运第一次有了正收益。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870448" y="4114800"/>
            <a:ext cx="5806440" cy="1280160"/>
          </a:xfrm>
          <a:prstGeom prst="roundRect">
            <a:avLst>
              <a:gd name="adj" fmla="val 8000"/>
            </a:avLst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035040" y="4370832"/>
            <a:ext cx="502920" cy="7315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2600" b="1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4261104"/>
            <a:ext cx="4754880" cy="29260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300" b="1">
                <a:solidFill>
                  <a:srgbClr val="0070C0"/>
                </a:solidFill>
                <a:latin typeface="微软雅黑"/>
                <a:ea typeface="微软雅黑"/>
                <a:cs typeface="微软雅黑"/>
              </a:rPr>
              <a:t>还要做：去更窄的链路验证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4590288"/>
            <a:ext cx="4754880" cy="64008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B2838"/>
                </a:solidFill>
                <a:latin typeface="微软雅黑"/>
              </a:rPr>
              <a:t>预测：链路越窄，少搬数据越值钱。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5488" y="5632704"/>
            <a:ext cx="11201400" cy="566928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8368" y="5632704"/>
            <a:ext cx="10881360" cy="56692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投稿目标     ICDCS</a:t>
            </a:r>
          </a:p>
        </p:txBody>
      </p:sp>
      <p:sp>
        <p:nvSpPr>
          <p:cNvPr id="38" name="Oval 37"/>
          <p:cNvSpPr/>
          <p:nvPr/>
        </p:nvSpPr>
        <p:spPr>
          <a:xfrm>
            <a:off x="749808" y="4443984"/>
            <a:ext cx="256032" cy="256032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9808" y="4425696"/>
            <a:ext cx="256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4389120"/>
            <a:ext cx="429768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B2838"/>
                </a:solidFill>
                <a:latin typeface="微软雅黑"/>
              </a:rPr>
              <a:t>外部基线比过了：轮转派活、Llumnix 的策略</a:t>
            </a:r>
          </a:p>
        </p:txBody>
      </p:sp>
      <p:sp>
        <p:nvSpPr>
          <p:cNvPr id="41" name="Oval 40"/>
          <p:cNvSpPr/>
          <p:nvPr/>
        </p:nvSpPr>
        <p:spPr>
          <a:xfrm>
            <a:off x="749808" y="4919472"/>
            <a:ext cx="256032" cy="256032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9808" y="4901184"/>
            <a:ext cx="256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3000" y="4864608"/>
            <a:ext cx="429768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B2838"/>
                </a:solidFill>
                <a:latin typeface="微软雅黑"/>
              </a:rPr>
              <a:t>自查推翻过自己一条结论，并重跑 112 次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19456" y="201168"/>
            <a:ext cx="11752783" cy="64556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3657600" cy="29260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300" b="1">
                <a:solidFill>
                  <a:srgbClr val="0070C0"/>
                </a:solidFill>
                <a:latin typeface="微软雅黑"/>
                <a:ea typeface="微软雅黑"/>
                <a:cs typeface="微软雅黑"/>
              </a:rPr>
              <a:t>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384048"/>
            <a:ext cx="2240280" cy="29260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zh-CN" altLang="en-US" sz="1300" b="1">
                <a:solidFill>
                  <a:srgbClr val="4E5D6C"/>
                </a:solidFill>
                <a:latin typeface="微软雅黑"/>
                <a:ea typeface="微软雅黑"/>
                <a:cs typeface="微软雅黑"/>
              </a:rPr>
              <a:t>15  / 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972800" cy="36576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>
                <a:solidFill>
                  <a:srgbClr val="4E5D6C"/>
                </a:solidFill>
                <a:latin typeface="微软雅黑"/>
                <a:ea typeface="微软雅黑"/>
                <a:cs typeface="微软雅黑"/>
              </a:rPr>
              <a:t>一句话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72800" cy="1325880"/>
          </a:xfrm>
          <a:prstGeom prst="rect">
            <a:avLst/>
          </a:prstGeom>
          <a:noFill/>
        </p:spPr>
        <p:txBody>
          <a:bodyPr wrap="square" lIns="54864" tIns="36576" rIns="54864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在没有卡间直连的消费级多卡上，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lang="zh-CN" altLang="en-US" sz="2800" b="1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我把 LLM decode 的负载均衡做成了一个流水化的运行时。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08960"/>
            <a:ext cx="3566160" cy="155448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3246120"/>
            <a:ext cx="3200400" cy="50292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2600" b="1">
                <a:solidFill>
                  <a:srgbClr val="0070C0"/>
                </a:solidFill>
                <a:latin typeface="微软雅黑"/>
                <a:ea typeface="微软雅黑"/>
                <a:cs typeface="微软雅黑"/>
              </a:rPr>
              <a:t>近 2×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840480"/>
            <a:ext cx="3200400" cy="64008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400" b="0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4 卡比静态分配快近 2 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3108960"/>
            <a:ext cx="3566160" cy="155448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3246120"/>
            <a:ext cx="3200400" cy="50292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2600" b="1">
                <a:solidFill>
                  <a:srgbClr val="0070C0"/>
                </a:solidFill>
                <a:latin typeface="微软雅黑"/>
                <a:ea typeface="微软雅黑"/>
                <a:cs typeface="微软雅黑"/>
              </a:rPr>
              <a:t>局部性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840480"/>
            <a:ext cx="3200400" cy="64008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400" b="0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负载有局部性时，搬运才值得；没有时不该搬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59" y="3108960"/>
            <a:ext cx="3566160" cy="155448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39" y="3246120"/>
            <a:ext cx="3200400" cy="50292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2600" b="1">
                <a:solidFill>
                  <a:srgbClr val="0070C0"/>
                </a:solidFill>
                <a:latin typeface="微软雅黑"/>
                <a:ea typeface="微软雅黑"/>
                <a:cs typeface="微软雅黑"/>
              </a:rPr>
              <a:t>诚实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39" y="3840480"/>
            <a:ext cx="3200400" cy="64008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400" b="0">
                <a:solidFill>
                  <a:srgbClr val="1B2838"/>
                </a:solidFill>
                <a:latin typeface="微软雅黑"/>
                <a:ea typeface="微软雅黑"/>
                <a:cs typeface="微软雅黑"/>
              </a:rPr>
              <a:t>自己推翻过一条结论，重跑 112 次改正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074920"/>
            <a:ext cx="10972800" cy="54864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>
                <a:solidFill>
                  <a:srgbClr val="0A4E86"/>
                </a:solidFill>
                <a:latin typeface="微软雅黑"/>
                <a:ea typeface="微软雅黑"/>
                <a:cs typeface="微软雅黑"/>
              </a:rPr>
              <a:t>谢谢老师。请批评。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669280"/>
            <a:ext cx="10972800" cy="32918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400" b="0">
                <a:solidFill>
                  <a:srgbClr val="4E5D6C"/>
                </a:solidFill>
                <a:latin typeface="微软雅黑"/>
                <a:ea typeface="微软雅黑"/>
                <a:cs typeface="微软雅黑"/>
              </a:rPr>
              <a:t>github.com/clearleo126/ferry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2850</Words>
  <Application>Microsoft Office PowerPoint</Application>
  <PresentationFormat>宽屏</PresentationFormat>
  <Paragraphs>245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Ferry：面向 LLM 稀疏注意力 decode 的多 GPU 运行时</dc:title>
  <dc:subject>导师组会汇报</dc:subject>
  <dc:creator/>
  <cp:keywords/>
  <dc:description>generated using python-pptx</dc:description>
  <cp:lastModifiedBy>志轩 张</cp:lastModifiedBy>
  <cp:revision>3</cp:revision>
  <dcterms:created xsi:type="dcterms:W3CDTF">2013-01-27T09:14:16Z</dcterms:created>
  <dcterms:modified xsi:type="dcterms:W3CDTF">2026-10-04T08:20:59Z</dcterms:modified>
  <cp:category>组会</cp:category>
</cp:coreProperties>
</file>